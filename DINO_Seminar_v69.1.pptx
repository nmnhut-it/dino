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82" r:id="rId6"/>
    <p:sldId id="280" r:id="rId7"/>
    <p:sldId id="281" r:id="rId8"/>
    <p:sldId id="284" r:id="rId9"/>
    <p:sldId id="264" r:id="rId10"/>
    <p:sldId id="265" r:id="rId11"/>
    <p:sldId id="266" r:id="rId12"/>
    <p:sldId id="262" r:id="rId13"/>
    <p:sldId id="285" r:id="rId14"/>
    <p:sldId id="287"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8514" autoAdjust="0"/>
  </p:normalViewPr>
  <p:slideViewPr>
    <p:cSldViewPr snapToGrid="0" snapToObjects="1">
      <p:cViewPr>
        <p:scale>
          <a:sx n="66" d="100"/>
          <a:sy n="66" d="100"/>
        </p:scale>
        <p:origin x="576" y="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787172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Xin chào mọi người. Hôm nay mình sẽ nói về DINO - một chuỗi nghiên cứu của Meta AI.
DINO = self-DIstillation with NO labels.
Ý tưởng chính: train model nhìn ảnh mà KHÔNG cần người gán nhãn.
Có 3 phiên bản: v1 (2021), v2 (2023), v3 (2025). Mỗi version giải quyết một vấn đề mới.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thành tựu chính của DINO:
1. 88.4% ImageNet accuracy - không dùng nhãn
   (DINOv3 với ViT-6.7B, linear probe)
2. SOTA nhiều dense tasks: segmentation, depth estimation
   Với frozen backbone, chỉ train linear head
3. Scale lên 6.7B parameters (DINOv3)
   Lớn nhất cho self-supervised vision
4. Lần đầu SSL xấp xỉ weakly-supervised (88.5%)
   Supervised chỉ đạt 85.7%
Nguồn: Siméoni et al., arXiv 2025</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chính: gán nhãn tốn kém.
ImageNet dataset:
- 22K categories, 15 triệu ảnh
- Thời gian: 2+ năm (2007-2009)
- Dùng Amazon MTurk với 49K workers từ 167 quốc gia
Nguồn:
- image-net.org
- Deng et al. 2009
- Russakovsky et al. 2015
Ảnh trên internet thì vô hạn và free.
Câu hỏi: train model tốt mà không cần nhãn được không?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Idea nôm na là thế này. Giả sử các bạn nhìn thấy cái vây của một con cá thôi, các bạn vẫn biết đó là con cá đúng không? Tức là chỉ cần nhìn một phần nhỏ của vật thể, mình vẫn có thể hiểu được toàn bộ ngữ cảnh.</a:t>
            </a:r>
          </a:p>
          <a:p>
            <a:r>
              <a:rPr lang="vi-VN" dirty="0"/>
              <a:t>[long long pause]</a:t>
            </a:r>
          </a:p>
          <a:p>
            <a:r>
              <a:rPr lang="vi-VN" dirty="0"/>
              <a:t>Cụ thể, từ một ảnh, mình sẽ crop ra nhiều views khác nhau. Có hai loại: global crop — nhìn hơn 50% bức ảnh, gần như thấy cả con cá — và local crop — chưa tới 50%, có khi chỉ thấy mỗi cái vây.</a:t>
            </a:r>
          </a:p>
          <a:p>
            <a:r>
              <a:rPr lang="vi-VN" dirty="0"/>
              <a:t>[long long pause]</a:t>
            </a:r>
          </a:p>
          <a:p>
            <a:r>
              <a:rPr lang="vi-VN" dirty="0"/>
              <a:t>Trong hệ thống có hai network cùng kiến trúc: Teacher và Student. Teacher chỉ nhận global crop. Nó nhìn gần toàn bộ con cá, rồi cho ra một phân phối xác suất. Ban đầu phân phối này chưa có ý nghĩa gì cả, nhưng nó đóng vai trò như một pseudo-label, một đáp án tạm.</a:t>
            </a:r>
          </a:p>
          <a:p>
            <a:r>
              <a:rPr lang="vi-VN" dirty="0"/>
              <a:t>[long long pause]</a:t>
            </a:r>
          </a:p>
          <a:p>
            <a:r>
              <a:rPr lang="vi-VN" dirty="0"/>
              <a:t>Còn Student thì nhận tất cả các crops — cả global lẫn local. Có lúc nó thấy cả con cá, có lúc chỉ thấy mỗi cái vây. Nhưng dù nhận view nào, nhiệm vụ của Student luôn là: đoán cho ra đáp án mà Teacher đang thấy từ global view.</a:t>
            </a:r>
          </a:p>
          <a:p>
            <a:r>
              <a:rPr lang="vi-VN" dirty="0"/>
              <a:t>[long long pause]</a:t>
            </a:r>
          </a:p>
          <a:p>
            <a:r>
              <a:rPr lang="vi-VN" dirty="0"/>
              <a:t>Điều này có nghĩa là gì? Khi Student chỉ thấy cái vây, nó vẫn phải hiểu rằng đây là một phần của con cá — phải đoán được cách Teacher biểu diễn con cá trong không gian học. Đây chính là áp lực buộc model học được mối liên hệ giữa cục bộ và toàn cục.</a:t>
            </a:r>
          </a:p>
          <a:p>
            <a:r>
              <a:rPr lang="vi-VN" dirty="0"/>
              <a:t>[long long pause]</a:t>
            </a:r>
          </a:p>
          <a:p>
            <a:r>
              <a:rPr lang="vi-VN" dirty="0"/>
              <a:t>Vậy Teacher học từ đâu? Đây là điểm hay. Teacher không được train trực tiếp bằng gradient. Thay vào đó, sau mỗi bước Student cập nhật xong, Teacher sẽ từ từ copy theo trọng số của Student, bằng một phép trung bình trượt gọi là exponential moving average. Nôm na là Student đi trước, Teacher đi theo sau một cách chậm rãi và mượt mà. Chính nhờ sự chậm rãi đó mà Teacher luôn ổn định hơn Student, và tạo ra được những pseudo-label nhất quán để Student học theo.</a:t>
            </a:r>
          </a:p>
          <a:p>
            <a:r>
              <a:rPr lang="vi-VN" dirty="0"/>
              <a:t>[long long pause]</a:t>
            </a:r>
          </a:p>
          <a:p>
            <a:r>
              <a:rPr lang="vi-VN" dirty="0"/>
              <a:t>Qua quá trình học, Student biết cách chú ý vào những đặc trưng cục bộ của ảnh. Đồng thời, pseudo-label của Teacher — ban đầu vô nghĩa — cũng từ từ biến đổi, trở nên có ý nghĩa hơn. Hai network cùng kéo nhau tiến lên.</a:t>
            </a:r>
          </a:p>
          <a:p>
            <a:r>
              <a:rPr lang="vi-VN" dirty="0"/>
              <a:t>[long long pause]</a:t>
            </a:r>
          </a:p>
          <a:p>
            <a:r>
              <a:rPr lang="vi-VN" dirty="0"/>
              <a:t>Lặp lại trên hàng triệu ảnh, với đủ loại sự vật khác nhau, những pseudo-label biểu diễn khái niệm giống nhau sẽ co cụm lại với nhau. Ảnh cá gần cá, ảnh chó gần chó. Hệ thống dần phân biệt được vật A với vật B vì chúng có pseudo-label khác nhau.</a:t>
            </a:r>
          </a:p>
          <a:p>
            <a:r>
              <a:rPr lang="vi-VN" dirty="0"/>
              <a:t>[long pause]</a:t>
            </a:r>
          </a:p>
          <a:p>
            <a:r>
              <a:rPr lang="vi-VN" dirty="0"/>
              <a:t>Và điều đặc biệt là, ý nghĩa của từng khái niệm không tồn tại đơn lẻ. "Cá" có ý nghĩa vì nó khác "chó", khác "mèo". Nói cách khác, DINO không chỉ học representation cho từng ảnh, mà đang tự xây dựng cả một hệ thống phân loại ngữ nghĩa, trong đó các khái niệm được định nghĩa bởi mối quan hệ tương đối với nhau. Và tất cả đều emerge tự nhiên, không cần bất kỳ label nào từ con người.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Nhìn vào sơ đồ bên trái, các bạn sẽ thấy ý tưởng chính rất đơn giản: hai networks, hai views, và một loss duy nhất. Mục tiêu cũng rất rõ ràng: Student phải học cách copy Teacher.</a:t>
            </a:r>
          </a:p>
          <a:p>
            <a:r>
              <a:rPr lang="vi-VN" dirty="0"/>
              <a:t>[pause]</a:t>
            </a:r>
          </a:p>
          <a:p>
            <a:r>
              <a:rPr lang="vi-VN" dirty="0"/>
              <a:t>Mình đi từ dưới lên. Xuất phát từ một ảnh x, mình crop ra hai views: x1 là local crop — phần nhỏ của ảnh, và x2 là global crop — gần như toàn bộ ảnh. x1 đi vào Student, x2 đi vào Teacher. Hai mạng này có cùng kiến trúc, nhưng weights thì khác nhau. Về kiến trúc thì có thể dùng bất kỳ backbone nào — trong paper, tác giả thử với cả ResNet và Vision Transformer, và Vision Transformer</a:t>
            </a:r>
            <a:r>
              <a:rPr lang="en-US" dirty="0"/>
              <a:t> </a:t>
            </a:r>
            <a:r>
              <a:rPr lang="vi-VN" dirty="0"/>
              <a:t>cho kết quả tốt nhất.</a:t>
            </a:r>
          </a:p>
          <a:p>
            <a:r>
              <a:rPr lang="vi-VN" dirty="0"/>
              <a:t>[pause]</a:t>
            </a:r>
          </a:p>
          <a:p>
            <a:r>
              <a:rPr lang="vi-VN" dirty="0"/>
              <a:t>Đi tiếp lên trên, lúc này output thô của hai mạng đang ở dạng logits — có thể hiểu là chúng đang nói hai ngôn ngữ khác nhau, chưa so sánh trực tiếp được. Nên mình cho cả hai đi qua softmax, để chuyển về cùng một ngôn ngữ chung: phân phối xác suất. Giờ mình có p1 từ Student, p2 từ Teacher. Vì mục tiêu là Student phải copy Teacher, nên mình dùng cross-entropy — âm p2 log p1 — làm loss, để đo xem hai phân phối này lệch nhau bao xa.</a:t>
            </a:r>
          </a:p>
          <a:p>
            <a:r>
              <a:rPr lang="vi-VN" dirty="0"/>
              <a:t>[pause]</a:t>
            </a:r>
          </a:p>
          <a:p>
            <a:r>
              <a:rPr lang="vi-VN" dirty="0"/>
              <a:t>Nhưng có một điểm quan trọng: gradient chỉ chạy qua Student thôi. Teacher thì stop gradient hoàn toàn. Vậy Teacher học từ đâu? Các bạn nhìn mũi tên EMA ở giữa sơ đồ — sau mỗi bước Student cập nhật xong, Teacher sẽ từ từ copy theo trọng số của Student thông qua exponential moving average. Student đi trước, Teacher đi theo chậm rãi.</a:t>
            </a:r>
          </a:p>
          <a:p>
            <a:r>
              <a:rPr lang="vi-VN" dirty="0"/>
              <a:t>[pause]</a:t>
            </a:r>
          </a:p>
          <a:p>
            <a:r>
              <a:rPr lang="vi-VN" dirty="0"/>
              <a:t>Ở các slide tiếp theo, mình sẽ đi chi tiết vào từng thành phần.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509892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Bây giờ mình zoom vào bên trong mạng Student để xem nó xử lý một ảnh như thế nào.</a:t>
            </a:r>
          </a:p>
          <a:p>
            <a:r>
              <a:rPr lang="vi-VN" dirty="0"/>
              <a:t>[pause]</a:t>
            </a:r>
          </a:p>
          <a:p>
            <a:r>
              <a:rPr lang="vi-VN" dirty="0"/>
              <a:t>Bắt đầu từ input. Ở đây mình lấy ví dụ là một local crop — ảnh 96×96 pixel, 3 kênh màu RGB. Bước đầu tiên là Patch Embedding: mình chia ảnh thành lưới 6×6, tức là 36 mảnh nhỏ, mỗi mảnh 16×16 pixel. Mỗi mảnh được đưa qua một linear projection để chuyển thành vector 768 chiều, rồi cộng thêm positional embedding để model biết mảnh nào nằm ở đâu. Kết quả là 36 vectors, mỗi cái 768 chiều.</a:t>
            </a:r>
          </a:p>
          <a:p>
            <a:r>
              <a:rPr lang="vi-VN" dirty="0"/>
              <a:t>[pause]</a:t>
            </a:r>
          </a:p>
          <a:p>
            <a:r>
              <a:rPr lang="vi-VN" dirty="0"/>
              <a:t>Tiếp theo, mình thêm một token đặc biệt gọi là CLS token vào đầu chuỗi. Token này không mang thông tin pixel nào cả — nhiệm vụ của nó là "lắng nghe" tất cả 36 patch qua cơ chế self-attention trong ViT Backbone, rồi tổng hợp lại thành một vector đại diện cho cả bức ảnh. Output của bước này là CLS token 768 chiều.</a:t>
            </a:r>
          </a:p>
          <a:p>
            <a:r>
              <a:rPr lang="vi-VN" dirty="0"/>
              <a:t>[pause]</a:t>
            </a:r>
          </a:p>
          <a:p>
            <a:r>
              <a:rPr lang="vi-VN" dirty="0"/>
              <a:t>Nhưng 768 chiều này chưa phải output cuối. Mình còn đưa nó qua một MLP Head — gồm 3 tầng: 768 lên 2048, rồi 2048, rồi ra 65536 chiều. Con số 65536 ở đây là kích thước của không gian prototype — có thể hiểu nôm na là model đang "chấm điểm" ảnh này trên 65536 khái niệm khác nhau. Output lúc này gọi là logits — những con số thô, chưa chuẩn hóa.</a:t>
            </a:r>
          </a:p>
          <a:p>
            <a:r>
              <a:rPr lang="vi-VN" dirty="0"/>
              <a:t>[pause]</a:t>
            </a:r>
          </a:p>
          <a:p>
            <a:r>
              <a:rPr lang="vi-VN" dirty="0"/>
              <a:t>Bước cuối: đưa logits qua softmax với temperature </a:t>
            </a:r>
            <a:r>
              <a:rPr lang="el-GR" dirty="0"/>
              <a:t>τ = 0.1. </a:t>
            </a:r>
            <a:r>
              <a:rPr lang="vi-VN" dirty="0"/>
              <a:t>Temperature này cao hơn Teacher — vì Student đang trong quá trình học, cần phân phối mềm hơn, linh hoạt hơn. Kết quả là P₁ — phân phối xác suất của Student. Và chính P₁ này sẽ được đem so với P₂ của Teacher qua cross-entropy loss mà mình đã nói ở slide trước.</a:t>
            </a:r>
          </a:p>
          <a:p>
            <a:r>
              <a:rPr lang="vi-VN" dirty="0"/>
              <a:t>[pause]</a:t>
            </a:r>
          </a:p>
          <a:p>
            <a:r>
              <a:rPr lang="vi-VN" dirty="0"/>
              <a:t>Tóm lại, flow của Student là: ảnh → cắt patch → ViT xử lý → MLP chấm điểm → softmax ra xác suất. Đơn giản vậy thôi.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Đây là script cho slide Teacher, đi từ trên xuống theo sơ đồ, và highlight rõ những chỗ khác Student:</a:t>
            </a:r>
          </a:p>
          <a:p>
            <a:r>
              <a:rPr lang="vi-VN" dirty="0"/>
              <a:t>Bây giờ mình sang Teacher. Nhìn sơ đồ các bạn sẽ thấy cấu trúc gần giống Student — cùng kiến trúc, cùng flow xử lý. Nhưng có 4 điểm khác biệt quan trọng mà mình sẽ đi lần lượt.</a:t>
            </a:r>
          </a:p>
          <a:p>
            <a:r>
              <a:rPr lang="vi-VN" dirty="0"/>
              <a:t>[pause]</a:t>
            </a:r>
          </a:p>
          <a:p>
            <a:r>
              <a:rPr lang="vi-VN" dirty="0"/>
              <a:t>Điểm khác đầu tiên nằm ngay ở input. Teacher nhận global crop — ảnh 224×224, lớn hơn nhiều so với 96×96 của Student. 224 chia 16 được 14, tức là 14×14 = 196 patches — gấp hơn 5 lần so với 36 patches của Student. Teacher thấy gần như toàn bộ bức ảnh, còn Student có khi chỉ thấy một góc nhỏ. Đây chính là áp lực học: nhìn cái vây thôi cũng phải biết đó là con cá.</a:t>
            </a:r>
          </a:p>
          <a:p>
            <a:r>
              <a:rPr lang="vi-VN" dirty="0"/>
              <a:t>[pause]</a:t>
            </a:r>
          </a:p>
          <a:p>
            <a:r>
              <a:rPr lang="vi-VN" dirty="0"/>
              <a:t>Tiếp theo, ViT Backbone và MLP Head thì cùng kiến trúc với Student — cùng self-attention, cùng MLP 768 → 2048 → 2048 → 65536. Chỉ khác là weights, vì Teacher không train bằng gradient mà cập nhật qua EMA — nhưng cái đó mình nói sau.</a:t>
            </a:r>
          </a:p>
          <a:p>
            <a:r>
              <a:rPr lang="vi-VN" dirty="0"/>
              <a:t>[pause]</a:t>
            </a:r>
          </a:p>
          <a:p>
            <a:r>
              <a:rPr lang="vi-VN" dirty="0"/>
              <a:t>Điểm khác thứ hai — và đây là chỗ quan trọng — là bước Centering. Các bạn thấy trên slide, sau MLP Head, Teacher có thêm một bước mà Student không có: trừ đi trung bình c của batch. Tại sao cần bước này? Vì nếu không có centering, Teacher có thể collapse — tức là output giống nhau cho mọi ảnh. Ảnh cá cũng ra [0.5, 0.5, ...], ảnh chó cũng ra [0.5, 0.5, ...]. Loss bằng 0 nhưng model không học được gì cả. Centering ngăn điều đó: nếu mọi output giống nhau thì sau khi trừ mean sẽ ra vector toàn số 0 — vô nghĩa — buộc model phải cho ra output khác nhau cho mỗi ảnh.</a:t>
            </a:r>
          </a:p>
          <a:p>
            <a:r>
              <a:rPr lang="vi-VN" dirty="0"/>
              <a:t>[pause]</a:t>
            </a:r>
          </a:p>
          <a:p>
            <a:r>
              <a:rPr lang="vi-VN" dirty="0"/>
              <a:t>Điểm khác thứ ba là temperature. Teacher dùng </a:t>
            </a:r>
            <a:r>
              <a:rPr lang="el-GR" dirty="0"/>
              <a:t>τ = 0.04, </a:t>
            </a:r>
            <a:r>
              <a:rPr lang="vi-VN" dirty="0"/>
              <a:t>thấp hơn nhiều so với 0.1 của Student. Temperature thấp làm phân phối rất nhọn — Teacher "chắc chắn" về đáp án, chỉ rõ cho Student biết cần học cái gì. Còn Student dùng temperature cao hơn vì đang trong quá trình học, cần phân phối mềm hơn để gradient ổn định.</a:t>
            </a:r>
          </a:p>
          <a:p>
            <a:r>
              <a:rPr lang="vi-VN" dirty="0"/>
              <a:t>[pause]</a:t>
            </a:r>
          </a:p>
          <a:p>
            <a:r>
              <a:rPr lang="vi-VN" dirty="0"/>
              <a:t>Và ở đây có một sự cân bằng: centering thì đẩy phân phối về phía đều — tránh collapse. Còn temperature thấp thì đẩy phân phối về phía nhọn — tránh uniform. Hai cơ chế này kéo ngược chiều nhau, giữ cho training ổn định.</a:t>
            </a:r>
          </a:p>
          <a:p>
            <a:r>
              <a:rPr lang="vi-VN" dirty="0"/>
              <a:t>[pause]</a:t>
            </a:r>
          </a:p>
          <a:p>
            <a:r>
              <a:rPr lang="vi-VN" dirty="0"/>
              <a:t>Điểm khác cuối cùng, cũng là quan trọng nhất — các bạn nhìn dòng đỏ ở dưới slide: Teacher KHÔNG dùng gradient. Sau mỗi bước Student cập nhật xong, Teacher chỉ copy theo 0.4% trọng số mới của Student qua EMA, giữ lại 99.6% trọng số cũ. Tại sao? Vì nếu cả hai cùng train bằng gradient, chúng có thể "thông đồng" — cùng collapse về trivial solution. EMA buộc Teacher đi chậm hơn Student, không thể thông đồng, và nhờ đó tạo ra pseudo-label ổn định cho Student học theo.</a:t>
            </a:r>
          </a:p>
          <a:p>
            <a:r>
              <a:rPr lang="vi-VN" dirty="0"/>
              <a:t>[pause]</a:t>
            </a:r>
          </a:p>
          <a:p>
            <a:r>
              <a:rPr lang="vi-VN" dirty="0"/>
              <a:t>Tóm lại, Teacher giống Student về kiến trúc, nhưng khác ở 4 chỗ: input lớn hơn, thêm centering, temperature thấp hơn, và không train gradient mà dùng EMA. Bốn điểm khác biệt này đều phục vụ một mục đích: giúp Teacher cho ra pseudo-label ổn định và có ý nghĩa để Student học theo.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Mình đã nhắc nhiều lần rằng Teacher cập nhật qua EMA. Bây giờ mình đi sâu vào xem EMA là gì và tại sao nó quan trọng đến vậy.</a:t>
            </a:r>
          </a:p>
          <a:p>
            <a:r>
              <a:rPr lang="vi-VN" dirty="0"/>
              <a:t>[pause]</a:t>
            </a:r>
          </a:p>
          <a:p>
            <a:r>
              <a:rPr lang="vi-VN" dirty="0"/>
              <a:t>Nhìn công thức trên slide: </a:t>
            </a:r>
            <a:r>
              <a:rPr lang="el-GR" dirty="0"/>
              <a:t>θ </a:t>
            </a:r>
            <a:r>
              <a:rPr lang="vi-VN" dirty="0"/>
              <a:t>Teacher bằng 0.996 nhân </a:t>
            </a:r>
            <a:r>
              <a:rPr lang="el-GR" dirty="0"/>
              <a:t>θ </a:t>
            </a:r>
            <a:r>
              <a:rPr lang="vi-VN" dirty="0"/>
              <a:t>Teacher cũ, cộng 0.004 nhân </a:t>
            </a:r>
            <a:r>
              <a:rPr lang="el-GR" dirty="0"/>
              <a:t>θ </a:t>
            </a:r>
            <a:r>
              <a:rPr lang="vi-VN" dirty="0"/>
              <a:t>Student. Nghĩa là mỗi bước training, Teacher giữ lại 99.6% trọng số hiện tại, chỉ hấp thụ 0.4% từ Student. Cập nhật cực chậm. Các bạn tưởng tượng Teacher như một người thầy kinh nghiệm — không thay đổi theo từng câu hỏi của trò, mà tích luỹ dần dần qua thời gian.</a:t>
            </a:r>
          </a:p>
          <a:p>
            <a:r>
              <a:rPr lang="vi-VN" dirty="0"/>
              <a:t>[pause]</a:t>
            </a:r>
          </a:p>
          <a:p>
            <a:r>
              <a:rPr lang="vi-VN" dirty="0"/>
              <a:t>Nhưng tại sao phải làm vậy? Nhìn bên trái slide — lý do cốt lõi là tạo ra sự bất đối xứng. Nếu Teacher và Student update cùng tốc độ, chúng có thể "thông đồng" — cùng collapse về một output vô nghĩa. EMA ngăn điều đó vì hai bên update khác tốc độ, không thể đồng bộ với nhau. Và có một phát hiện thú vị: Teacher — dù không bao giờ được train gradient — luôn cho kết quả tốt hơn Student suốt quá trình training. Đây là hiệu ứng Polyak-Ruppert: trung bình của nhiều phiên bản model thường tốt hơn bất kỳ phiên bản đơn lẻ nào.</a:t>
            </a:r>
          </a:p>
          <a:p>
            <a:r>
              <a:rPr lang="vi-VN" dirty="0"/>
              <a:t>[pause]</a:t>
            </a:r>
          </a:p>
          <a:p>
            <a:r>
              <a:rPr lang="vi-VN" dirty="0"/>
              <a:t>Bên phải slide là ablation study — tác giả đã thử các cách khác. Thứ nhất, copy weights cùng tốc độ — Teacher bằng Student sau mỗi bước. Kết quả: không hội tụ, collapse hoàn toàn. Thứ hai, freeze Teacher theo từng epoch — Teacher đứng yên một epoch rồi mới copy. Kết quả: chạy được nhưng kém hơn. Thứ ba, EMA với momentum — tốt nhất. Bỏ EMA thì accuracy gần như random.</a:t>
            </a:r>
          </a:p>
          <a:p>
            <a:r>
              <a:rPr lang="vi-VN" dirty="0"/>
              <a:t>[pause]</a:t>
            </a:r>
          </a:p>
          <a:p>
            <a:r>
              <a:rPr lang="vi-VN" dirty="0"/>
              <a:t>Con số 0.996 không phải ngẫu nhiên — BYOL đã thử nhiều giá trị và 0.996 cho kết quả tốt nhất, DINO kế thừa luôn. Và trong quá trình training, lambda còn tăng dần từ 0.996 lên 1.0 theo cosine schedule — nghĩa là càng về cuối, Teacher càng ít thay đổi, càng ổn định.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Trước khi đi tiếp, mình cần nói về vấn đề lớn nhất của self-supervised learning: collapse.</a:t>
            </a:r>
          </a:p>
          <a:p>
            <a:r>
              <a:rPr lang="vi-VN" dirty="0"/>
              <a:t>[pause]</a:t>
            </a:r>
          </a:p>
          <a:p>
            <a:r>
              <a:rPr lang="vi-VN" dirty="0"/>
              <a:t>Các bạn hình dung thế này. Teacher và Student đều muốn loss thấp nhất có thể. Mà cách dễ nhất để loss bằng 0 là gì? Là cả hai cùng output giống hệt nhau cho mọi ảnh. Ảnh cá cũng ra một vector, ảnh chó cũng ra đúng vector đó. Loss bằng 0, training "thành công" — nhưng model không học được gì cả. Đây gọi là collapse.</a:t>
            </a:r>
          </a:p>
          <a:p>
            <a:r>
              <a:rPr lang="vi-VN" dirty="0"/>
              <a:t>[pause]</a:t>
            </a:r>
          </a:p>
          <a:p>
            <a:r>
              <a:rPr lang="vi-VN" dirty="0"/>
              <a:t>Nhìn trên slide, các bạn thấy có 2 loại. Bên trái là mode collapse — tất cả output co cụm về cùng một điểm, mọi ảnh cho ra cùng một vector. Bên phải là uniform collapse — output trải đều ra, phân phối phẳng lì, không có peak nào cả. Cả hai đều vô nghĩa: một bên thì không phân biệt được ảnh nào với ảnh nào, bên kia thì model không "cam kết" với bất kỳ khái niệm nào.</a:t>
            </a:r>
          </a:p>
          <a:p>
            <a:r>
              <a:rPr lang="vi-VN" dirty="0"/>
              <a:t>[pause]</a:t>
            </a:r>
          </a:p>
          <a:p>
            <a:r>
              <a:rPr lang="vi-VN" dirty="0"/>
              <a:t>Các phương pháp contrastive như SimCLR hay MoCo giải quyết bằng negative samples — bắt model đẩy các ảnh khác nhau ra xa nhau. Nhưng DINO không dùng negative samples. Thay vào đó, DINO dùng hai cơ chế mà mình đã nhắc ở slide Teacher.</a:t>
            </a:r>
          </a:p>
          <a:p>
            <a:r>
              <a:rPr lang="vi-VN" dirty="0"/>
              <a:t>[pause]</a:t>
            </a:r>
            <a:r>
              <a:rPr lang="en-US" dirty="0"/>
              <a:t> </a:t>
            </a:r>
            <a:endParaRPr lang="vi-VN"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Centering — trừ đi trung bình — chống mode collapse. Nếu mọi output giống nhau thì mean bằng chính output đó, trừ đi thì ra 0, buộc model phải cho ra output khác nhau.</a:t>
            </a:r>
          </a:p>
          <a:p>
            <a:r>
              <a:rPr lang="vi-VN" dirty="0"/>
              <a:t>Sharpening — dùng temperature rất thấp — chống uniform collapse</a:t>
            </a:r>
            <a:r>
              <a:rPr lang="en-US" dirty="0"/>
              <a:t> Trong hàm </a:t>
            </a:r>
            <a:r>
              <a:rPr lang="en-US" dirty="0" err="1"/>
              <a:t>softmax</a:t>
            </a:r>
            <a:r>
              <a:rPr lang="en-US" dirty="0"/>
              <a:t>,</a:t>
            </a:r>
            <a:r>
              <a:rPr lang="vi-VN" dirty="0"/>
              <a:t>.</a:t>
            </a:r>
            <a:r>
              <a:rPr lang="en-US" dirty="0"/>
              <a:t>t</a:t>
            </a:r>
            <a:r>
              <a:rPr lang="vi-VN" dirty="0"/>
              <a:t>emperature thấp buộc phân phối phải nhọn, phải chọn rõ ràng, không được trải đều.</a:t>
            </a:r>
          </a:p>
          <a:p>
            <a:r>
              <a:rPr lang="vi-VN" dirty="0"/>
              <a:t>[pause]</a:t>
            </a:r>
          </a:p>
          <a:p>
            <a:r>
              <a:rPr lang="vi-VN" dirty="0"/>
              <a:t>Và điểm hay là hai cơ chế này kéo ngược chiều nhau: centering đẩy về phía đều, sharpening đẩy về phía nhọn. Chúng cân bằng nhau, giữ cho model không rơi vào collapse theo bất kỳ hướng nào. Đây là một trong những đóng góp thiết kế quan trọng nhất của DINO.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Bây giờ mình nhìn vào công thức loss — tức là cách DINO đo xem Student học tốt hay chưa.</a:t>
            </a:r>
          </a:p>
          <a:p>
            <a:r>
              <a:rPr lang="vi-VN" dirty="0"/>
              <a:t>[pause]</a:t>
            </a:r>
          </a:p>
          <a:p>
            <a:r>
              <a:rPr lang="vi-VN" dirty="0"/>
              <a:t>Ở trên cùng là công thức chính: L bằng âm tổng P_t nhân log P_s. Đây là cross-entropy — đo khoảng cách giữa hai phân phối xác suất. P_t là phân phối của Teacher, đóng vai trò đáp án. P_s là phân phối của Student, đóng vai trò dự đoán. Loss càng thấp nghĩa là Student càng giống Teacher.</a:t>
            </a:r>
          </a:p>
          <a:p>
            <a:r>
              <a:rPr lang="vi-VN" dirty="0"/>
              <a:t>[pause]</a:t>
            </a:r>
          </a:p>
          <a:p>
            <a:r>
              <a:rPr lang="vi-VN" dirty="0"/>
              <a:t>Nhìn xuống hai box bên dưới, các bạn thấy cách tính P_s và P_t có khác nhau. Bên trái, Student: lấy output g_s chia cho </a:t>
            </a:r>
            <a:r>
              <a:rPr lang="el-GR" dirty="0"/>
              <a:t>τ_</a:t>
            </a:r>
            <a:r>
              <a:rPr lang="vi-VN" dirty="0"/>
              <a:t>s bằng 0.1, rồi softmax. Đơn giản vậy thôi. Bên phải, Teacher: output g_t phải trừ đi c trước — đây chính là bước centering mà mình vừa nói — rồi mới chia cho </a:t>
            </a:r>
            <a:r>
              <a:rPr lang="el-GR" dirty="0"/>
              <a:t>τ_</a:t>
            </a:r>
            <a:r>
              <a:rPr lang="vi-VN" dirty="0"/>
              <a:t>t bằng 0.04 và softmax. Hai điểm khác biệt nằm ngay trong công thức: Teacher có centering, và temperature thấp hơn.</a:t>
            </a:r>
          </a:p>
          <a:p>
            <a:r>
              <a:rPr lang="vi-VN" dirty="0"/>
              <a:t>[pause]</a:t>
            </a:r>
          </a:p>
          <a:p>
            <a:r>
              <a:rPr lang="vi-VN" dirty="0"/>
              <a:t>Phía dưới slide, các bạn thấy x là global crop cho Teacher, x' là local hoặc global crop cho Student. Và loss được tính trên tất cả các cặp x, x' mà x khác x' — nghĩa là mình không so một view với chính nó, mà luôn so cross-view. Với multi-crop — 2 global và 6 local — sẽ có nhiều cặp, và Student phải match Teacher ở mọi cặp.</a:t>
            </a:r>
          </a:p>
          <a:p>
            <a:r>
              <a:rPr lang="vi-VN" dirty="0"/>
              <a:t>[pause]</a:t>
            </a:r>
          </a:p>
          <a:p>
            <a:r>
              <a:rPr lang="vi-VN" dirty="0"/>
              <a:t>Cuối cùng, K bằng 65536 — đây là số chiều của không gian prototype, tức là mỗi phân phối có 65536 giá trị. Con số này lớn để model có đủ "từ vựng" biểu diễn đa dạng khái niệm.</a:t>
            </a:r>
          </a:p>
          <a:p>
            <a:r>
              <a:rPr lang="vi-VN" dirty="0"/>
              <a:t>[pause]</a:t>
            </a:r>
          </a:p>
          <a:p>
            <a:r>
              <a:rPr lang="vi-VN" dirty="0"/>
              <a:t>Tóm lại, loss của DINO gói gọn trong một dòng cross-entropy, nhưng bên trong nó đã chứa đầy đủ: centering chống collapse, temperature khác nhau giữa Teacher và Student, và multi-crop cross-view. Tất cả những thiết kế mình đã nói ở các slide trước đều hội tụ ở đây.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Trước khi đi tiếp, mình dừng lại tổng hợp một chút. Slide này đặt Student và Teacher cạnh nhau để các bạn thấy rõ giống và khác ở đâu.</a:t>
            </a:r>
          </a:p>
          <a:p>
            <a:r>
              <a:rPr lang="vi-VN" dirty="0"/>
              <a:t>[pause]</a:t>
            </a:r>
          </a:p>
          <a:p>
            <a:r>
              <a:rPr lang="vi-VN" dirty="0"/>
              <a:t>Hàng đầu tiên — kiến trúc. Cả hai đều là g bằng h chấm f, tức backbone f cộng MLP head h. Giống nhau hoàn toàn. Đây là điều khác với knowledge distillation truyền thống, nơi Teacher thường là model lớn hơn. Trong DINO, hai mạng cùng kích thước — khác biệt nằm ở cách chúng được train và cách chúng nhìn ảnh.</a:t>
            </a:r>
          </a:p>
          <a:p>
            <a:r>
              <a:rPr lang="vi-VN" dirty="0"/>
              <a:t>[pause]</a:t>
            </a:r>
          </a:p>
          <a:p>
            <a:r>
              <a:rPr lang="vi-VN" dirty="0"/>
              <a:t>Hàng thứ hai — input. Student nhận local crop 96×96, Teacher nhận global crop 224×224. Teacher thấy gần toàn bộ bức ảnh, Student có khi chỉ thấy một góc nhỏ. Đây là nguồn gốc của áp lực học: Student buộc phải suy ra toàn cục từ cục bộ.</a:t>
            </a:r>
          </a:p>
          <a:p>
            <a:r>
              <a:rPr lang="vi-VN" dirty="0"/>
              <a:t>[pause]</a:t>
            </a:r>
          </a:p>
          <a:p>
            <a:r>
              <a:rPr lang="vi-VN" dirty="0"/>
              <a:t>Hai hàng tiếp theo — centering và temperature. Teacher có centering, Student không. Teacher dùng </a:t>
            </a:r>
            <a:r>
              <a:rPr lang="el-GR" dirty="0"/>
              <a:t>τ 0.04, </a:t>
            </a:r>
            <a:r>
              <a:rPr lang="vi-VN" dirty="0"/>
              <a:t>Student dùng 0.1. Hai điểm này làm cho output của Teacher vừa sharp vừa không collapse — tạo ra pseudo-label chất lượng cho Student học theo.</a:t>
            </a:r>
          </a:p>
          <a:p>
            <a:r>
              <a:rPr lang="vi-VN" dirty="0"/>
              <a:t>[pause]</a:t>
            </a:r>
          </a:p>
          <a:p>
            <a:r>
              <a:rPr lang="vi-VN" dirty="0"/>
              <a:t>Hàng cuối — training. Và đây là điểm khác biệt quan trọng nhất. Student cập nhật bằng gradient descent như bình thường. Teacher thì không — chỉ copy chậm từ Student qua EMA. Chính vì Teacher không train gradient mà nó ổn định hơn, và chính vì ổn định hơn mà nó đóng vai trò dẫn dắt được.</a:t>
            </a:r>
          </a:p>
          <a:p>
            <a:r>
              <a:rPr lang="vi-VN" dirty="0"/>
              <a:t>[pause]</a:t>
            </a:r>
          </a:p>
          <a:p>
            <a:r>
              <a:rPr lang="vi-VN" dirty="0"/>
              <a:t>Các bạn nhìn dòng tóm tắt ở dưới: Teacher thấy nhiều hơn, output sharp hơn. Còn Student thì học cách "tóm tắt" — nhìn một phần nhỏ nhưng phải nắm được toàn cảnh mà Teacher đang thấy. Toàn bộ thiết kế của DINO xoay quanh sự bất đối xứng này.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Và bây giờ đến phần mình cho là ấn tượng nhất trong toàn bộ paper.</a:t>
            </a:r>
          </a:p>
          <a:p>
            <a:r>
              <a:rPr lang="vi-VN" dirty="0"/>
              <a:t>[pause]</a:t>
            </a:r>
          </a:p>
          <a:p>
            <a:r>
              <a:rPr lang="vi-VN" dirty="0"/>
              <a:t>Các bạn nhìn bên trái — ảnh gốc là một con gấu bông đeo kính, xung quanh có nhiều đồ vật lộn xộn. Bên cạnh là attention map của CLS token ở layer cuối. Các bạn thấy gì? Model tự tách được con gấu bông ra khỏi nền. Không ai dạy nó segmentation. Không có bất kỳ segmentation label nào. Nó tự học được điều này.</a:t>
            </a:r>
          </a:p>
          <a:p>
            <a:r>
              <a:rPr lang="vi-VN" dirty="0"/>
              <a:t>[pause]</a:t>
            </a:r>
          </a:p>
          <a:p>
            <a:r>
              <a:rPr lang="vi-VN" dirty="0"/>
              <a:t>Và không chỉ tách object khỏi nền. Các head khác nhau tự focus vào các phần khác nhau — head này nhìn đầu, head kia nhìn thân, head khác nhìn nền. Giống như model tự phân công: "anh lo phần này, tôi lo phần kia." Đây là emergent property — tính chất nổi lên tự nhiên mà không ai thiết kế trước.</a:t>
            </a:r>
          </a:p>
          <a:p>
            <a:r>
              <a:rPr lang="vi-VN" dirty="0"/>
              <a:t>[pause]</a:t>
            </a:r>
          </a:p>
          <a:p>
            <a:r>
              <a:rPr lang="vi-VN" dirty="0"/>
              <a:t>Tại sao điều này xảy ra? Mình nghĩ lý do nằm ở chính multi-crop strategy. Student chỉ thấy local crop — có khi chỉ một mảng nhỏ. Nhưng nó phải match Teacher đang thấy toàn bộ ảnh. Muốn làm được điều đó, model buộc phải hiểu: "mảng pixel này thuộc về vật thể hay thuộc về nền?" Nếu không phân biệt được, nó không thể suy từ cục bộ ra toàn cục. Nên spatial understanding xuất hiện như một hệ quả tất yếu của bài toán mà DINO đặt ra.</a:t>
            </a:r>
          </a:p>
          <a:p>
            <a:r>
              <a:rPr lang="vi-VN" dirty="0"/>
              <a:t>[pause]</a:t>
            </a:r>
          </a:p>
          <a:p>
            <a:r>
              <a:rPr lang="vi-VN" dirty="0"/>
              <a:t>Nhưng điểm đáng chú ý là: điều này chỉ xảy ra khi kết hợp ViT với DINO. ViT train supervised — không có. CNN train với DINO — cũng không có. Phải là ViT cộng DINO mới ra được hiệu ứng này. ViT cung cấp cơ chế self-attention để mỗi patch nhìn được tất cả patch khác. DINO cung cấp áp lực local-to-global. Hai thứ kết hợp lại mới tạo ra segmentation tự phát.</a:t>
            </a:r>
          </a:p>
          <a:p>
            <a:r>
              <a:rPr lang="vi-VN" dirty="0"/>
              <a:t>[pause]</a:t>
            </a:r>
          </a:p>
          <a:p>
            <a:r>
              <a:rPr lang="vi-VN" dirty="0"/>
              <a:t>Và từ phát hiện này, người ta có thể lấy attention map của DINO làm pseudo-segmentation mask, dùng cho video object tracking trên DAVIS benchmark, mà không cần train thêm bất kỳ segmentation model nào. Một model self-supervised cho ra kết quả segmentation — đó là điều mà trước DINO, ít ai nghĩ là có thể.</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Vậy tất cả những thiết kế mình vừa nói — multi-crop, EMA, centering, sharpening — cho ra kết quả như thế nào?</a:t>
            </a:r>
          </a:p>
          <a:p>
            <a:r>
              <a:rPr lang="vi-VN" dirty="0"/>
              <a:t>[pause]</a:t>
            </a:r>
          </a:p>
          <a:p>
            <a:r>
              <a:rPr lang="vi-VN" dirty="0"/>
              <a:t>Nhìn bên trái: 80.1% linear probe và 77.4% k-NN, trên ImageNet, với ViT-B/8, không dùng bất kỳ label nào. Con số 80.1% này vượt cả supervised ResNet-50 — vốn cần 14 triệu ảnh có nhãn mà chỉ đạt 79.3%. Một model không cần nhãn mà đánh bại model có nhãn — đây là kết quả rất đáng chú ý.</a:t>
            </a:r>
          </a:p>
          <a:p>
            <a:r>
              <a:rPr lang="vi-VN" dirty="0"/>
              <a:t>[pause]</a:t>
            </a:r>
          </a:p>
          <a:p>
            <a:r>
              <a:rPr lang="vi-VN" dirty="0"/>
              <a:t>Nhưng con số mình muốn các bạn để ý nhất không phải 80.1%, mà là khoảng cách giữa linear và k-NN. Các bạn nhìn bảng bên phải. DINO: 80.1 linear, 77.4 k-NN — gap chỉ khoảng 3%. Trong khi SwAV: 75.3 linear, 65.7 k-NN — gap gần 10%. BYOL cũng tương tự: 74.4 so với 64.8.</a:t>
            </a:r>
          </a:p>
          <a:p>
            <a:r>
              <a:rPr lang="vi-VN" dirty="0"/>
              <a:t>[pause]</a:t>
            </a:r>
          </a:p>
          <a:p>
            <a:r>
              <a:rPr lang="vi-VN" dirty="0"/>
              <a:t>Tại sao gap này quan trọng? Vì k-NN là đánh giá đơn giản nhất — chỉ tìm ảnh gần nhất trong không gian feature, không train thêm gì cả. Nếu k-NN đã gần bằng linear, nghĩa là features của DINO tự nhiên đã tốt sẵn rồi, không cần train classifier phía trên. Features tự phân cụm rõ ràng — ảnh cá gần cá, ảnh chó gần chó — đúng như mình đã nói ở đầu bài.</a:t>
            </a:r>
          </a:p>
          <a:p>
            <a:r>
              <a:rPr lang="vi-VN" dirty="0"/>
              <a:t>[pause]</a:t>
            </a:r>
          </a:p>
          <a:p>
            <a:r>
              <a:rPr lang="vi-VN" dirty="0"/>
              <a:t>Nhìn dòng cuối slide, tác giả cũng nêu rõ hạn chế: chỉ train trên ImageNet 1.28 triệu ảnh, chỉ test classification, và chỉ dùng 1 loss. Ba hạn chế này chính là động lực cho DINOv2 mà mình sẽ nói tiếp theo.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828800"/>
            <a:ext cx="11274552" cy="1097280"/>
          </a:xfrm>
          <a:prstGeom prst="rect">
            <a:avLst/>
          </a:prstGeom>
          <a:noFill/>
          <a:ln/>
        </p:spPr>
        <p:txBody>
          <a:bodyPr wrap="square" rtlCol="0" anchor="ctr"/>
          <a:lstStyle/>
          <a:p>
            <a:pPr marL="0" indent="0" algn="ctr">
              <a:buNone/>
            </a:pPr>
            <a:r>
              <a:rPr lang="en-US" sz="7200" b="1" dirty="0">
                <a:solidFill>
                  <a:srgbClr val="2E7D32"/>
                </a:solidFill>
                <a:latin typeface="Roboto" pitchFamily="34" charset="0"/>
                <a:ea typeface="Roboto" pitchFamily="34" charset="-122"/>
                <a:cs typeface="Roboto" pitchFamily="34" charset="-120"/>
              </a:rPr>
              <a:t>DINO</a:t>
            </a:r>
            <a:endParaRPr lang="en-US" sz="7200" dirty="0"/>
          </a:p>
        </p:txBody>
      </p:sp>
      <p:sp>
        <p:nvSpPr>
          <p:cNvPr id="3" name="Text 1"/>
          <p:cNvSpPr/>
          <p:nvPr/>
        </p:nvSpPr>
        <p:spPr>
          <a:xfrm>
            <a:off x="457200" y="2926080"/>
            <a:ext cx="11274552" cy="548640"/>
          </a:xfrm>
          <a:prstGeom prst="rect">
            <a:avLst/>
          </a:prstGeom>
          <a:noFill/>
          <a:ln/>
        </p:spPr>
        <p:txBody>
          <a:bodyPr wrap="square" rtlCol="0" anchor="ctr"/>
          <a:lstStyle/>
          <a:p>
            <a:pPr marL="0" indent="0" algn="ctr">
              <a:buNone/>
            </a:pPr>
            <a:r>
              <a:rPr lang="en-US" sz="2800" dirty="0">
                <a:solidFill>
                  <a:srgbClr val="424242"/>
                </a:solidFill>
                <a:latin typeface="Roboto" pitchFamily="34" charset="0"/>
                <a:ea typeface="Roboto" pitchFamily="34" charset="-122"/>
                <a:cs typeface="Roboto" pitchFamily="34" charset="-120"/>
              </a:rPr>
              <a:t>Self-</a:t>
            </a:r>
            <a:r>
              <a:rPr lang="en-US" sz="2800" b="1" u="sng" dirty="0" err="1">
                <a:solidFill>
                  <a:srgbClr val="424242"/>
                </a:solidFill>
                <a:latin typeface="Roboto" pitchFamily="34" charset="0"/>
                <a:ea typeface="Roboto" pitchFamily="34" charset="-122"/>
                <a:cs typeface="Roboto" pitchFamily="34" charset="-120"/>
              </a:rPr>
              <a:t>DI</a:t>
            </a:r>
            <a:r>
              <a:rPr lang="en-US" sz="2800" dirty="0" err="1">
                <a:solidFill>
                  <a:srgbClr val="424242"/>
                </a:solidFill>
                <a:latin typeface="Roboto" pitchFamily="34" charset="0"/>
                <a:ea typeface="Roboto" pitchFamily="34" charset="-122"/>
                <a:cs typeface="Roboto" pitchFamily="34" charset="-120"/>
              </a:rPr>
              <a:t>stillation</a:t>
            </a:r>
            <a:r>
              <a:rPr lang="en-US" sz="2800" dirty="0">
                <a:solidFill>
                  <a:srgbClr val="424242"/>
                </a:solidFill>
                <a:latin typeface="Roboto" pitchFamily="34" charset="0"/>
                <a:ea typeface="Roboto" pitchFamily="34" charset="-122"/>
                <a:cs typeface="Roboto" pitchFamily="34" charset="-120"/>
              </a:rPr>
              <a:t> with </a:t>
            </a:r>
            <a:r>
              <a:rPr lang="en-US" sz="2800" b="1" u="sng" dirty="0">
                <a:solidFill>
                  <a:srgbClr val="424242"/>
                </a:solidFill>
                <a:latin typeface="Roboto" pitchFamily="34" charset="0"/>
                <a:ea typeface="Roboto" pitchFamily="34" charset="-122"/>
                <a:cs typeface="Roboto" pitchFamily="34" charset="-120"/>
              </a:rPr>
              <a:t>NO </a:t>
            </a:r>
            <a:r>
              <a:rPr lang="en-US" sz="2800" dirty="0">
                <a:solidFill>
                  <a:srgbClr val="424242"/>
                </a:solidFill>
                <a:latin typeface="Roboto" pitchFamily="34" charset="0"/>
                <a:ea typeface="Roboto" pitchFamily="34" charset="-122"/>
                <a:cs typeface="Roboto" pitchFamily="34" charset="-120"/>
              </a:rPr>
              <a:t>labels</a:t>
            </a:r>
            <a:endParaRPr lang="en-US" sz="2800" dirty="0"/>
          </a:p>
        </p:txBody>
      </p:sp>
      <p:sp>
        <p:nvSpPr>
          <p:cNvPr id="5" name="Text 3"/>
          <p:cNvSpPr/>
          <p:nvPr/>
        </p:nvSpPr>
        <p:spPr>
          <a:xfrm>
            <a:off x="457200" y="5029200"/>
            <a:ext cx="11274552" cy="365760"/>
          </a:xfrm>
          <a:prstGeom prst="rect">
            <a:avLst/>
          </a:prstGeom>
          <a:noFill/>
          <a:ln/>
        </p:spPr>
        <p:txBody>
          <a:bodyPr wrap="square" rtlCol="0" anchor="ctr"/>
          <a:lstStyle/>
          <a:p>
            <a:pPr marL="0" indent="0" algn="ctr">
              <a:buNone/>
            </a:pPr>
            <a:r>
              <a:rPr lang="en-US" sz="1600" dirty="0">
                <a:solidFill>
                  <a:srgbClr val="757575"/>
                </a:solidFill>
                <a:latin typeface="Roboto" pitchFamily="34" charset="0"/>
                <a:ea typeface="Roboto" pitchFamily="34" charset="-122"/>
                <a:cs typeface="Roboto" pitchFamily="34" charset="-120"/>
              </a:rPr>
              <a:t>Meta AI • 2021-2025 • v1 → v2 → v3</a:t>
            </a:r>
            <a:endParaRPr lang="en-US" sz="1600" dirty="0"/>
          </a:p>
        </p:txBody>
      </p:sp>
      <p:sp>
        <p:nvSpPr>
          <p:cNvPr id="6" name="Shape 4"/>
          <p:cNvSpPr/>
          <p:nvPr/>
        </p:nvSpPr>
        <p:spPr>
          <a:xfrm>
            <a:off x="457200" y="6537960"/>
            <a:ext cx="2209190" cy="228600"/>
          </a:xfrm>
          <a:prstGeom prst="rect">
            <a:avLst/>
          </a:prstGeom>
          <a:solidFill>
            <a:srgbClr val="C62828"/>
          </a:solidFill>
          <a:ln/>
        </p:spPr>
      </p:sp>
      <p:sp>
        <p:nvSpPr>
          <p:cNvPr id="7" name="Text 5"/>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Hook</a:t>
            </a:r>
            <a:endParaRPr lang="en-US" sz="1000" dirty="0"/>
          </a:p>
        </p:txBody>
      </p:sp>
      <p:sp>
        <p:nvSpPr>
          <p:cNvPr id="8" name="Shape 6"/>
          <p:cNvSpPr/>
          <p:nvPr/>
        </p:nvSpPr>
        <p:spPr>
          <a:xfrm>
            <a:off x="2712110" y="6537960"/>
            <a:ext cx="2209190" cy="228600"/>
          </a:xfrm>
          <a:prstGeom prst="rect">
            <a:avLst/>
          </a:prstGeom>
          <a:solidFill>
            <a:srgbClr val="BDBDBD"/>
          </a:solidFill>
          <a:ln/>
        </p:spPr>
      </p:sp>
      <p:sp>
        <p:nvSpPr>
          <p:cNvPr id="9" name="Text 7"/>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10" name="Shape 8"/>
          <p:cNvSpPr/>
          <p:nvPr/>
        </p:nvSpPr>
        <p:spPr>
          <a:xfrm>
            <a:off x="4967021" y="6537960"/>
            <a:ext cx="2209190" cy="228600"/>
          </a:xfrm>
          <a:prstGeom prst="rect">
            <a:avLst/>
          </a:prstGeom>
          <a:solidFill>
            <a:srgbClr val="BDBDBD"/>
          </a:solidFill>
          <a:ln/>
        </p:spPr>
      </p:sp>
      <p:sp>
        <p:nvSpPr>
          <p:cNvPr id="11" name="Text 9"/>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2" name="Shape 10"/>
          <p:cNvSpPr/>
          <p:nvPr/>
        </p:nvSpPr>
        <p:spPr>
          <a:xfrm>
            <a:off x="7221931" y="6537960"/>
            <a:ext cx="2209190" cy="228600"/>
          </a:xfrm>
          <a:prstGeom prst="rect">
            <a:avLst/>
          </a:prstGeom>
          <a:solidFill>
            <a:srgbClr val="BDBDBD"/>
          </a:solidFill>
          <a:ln/>
        </p:spPr>
      </p:sp>
      <p:sp>
        <p:nvSpPr>
          <p:cNvPr id="13" name="Text 11"/>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4" name="Shape 12"/>
          <p:cNvSpPr/>
          <p:nvPr/>
        </p:nvSpPr>
        <p:spPr>
          <a:xfrm>
            <a:off x="9476842" y="6537960"/>
            <a:ext cx="2209190" cy="228600"/>
          </a:xfrm>
          <a:prstGeom prst="rect">
            <a:avLst/>
          </a:prstGeom>
          <a:solidFill>
            <a:srgbClr val="BDBDBD"/>
          </a:solidFill>
          <a:ln/>
        </p:spPr>
      </p:sp>
      <p:sp>
        <p:nvSpPr>
          <p:cNvPr id="15" name="Text 13"/>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2E7D32"/>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DINO Đạt Được Gì?</a:t>
            </a:r>
            <a:endParaRPr lang="en-US" sz="3200" dirty="0"/>
          </a:p>
        </p:txBody>
      </p:sp>
      <p:sp>
        <p:nvSpPr>
          <p:cNvPr id="4" name="Text 2"/>
          <p:cNvSpPr/>
          <p:nvPr/>
        </p:nvSpPr>
        <p:spPr>
          <a:xfrm>
            <a:off x="457200" y="1371600"/>
            <a:ext cx="3248526" cy="914400"/>
          </a:xfrm>
          <a:prstGeom prst="rect">
            <a:avLst/>
          </a:prstGeom>
          <a:noFill/>
          <a:ln/>
        </p:spPr>
        <p:txBody>
          <a:bodyPr wrap="square" rtlCol="0" anchor="ctr"/>
          <a:lstStyle/>
          <a:p>
            <a:pPr marL="0" indent="0">
              <a:buNone/>
            </a:pPr>
            <a:r>
              <a:rPr lang="en-US" sz="4800" b="1" dirty="0">
                <a:solidFill>
                  <a:srgbClr val="2E7D32"/>
                </a:solidFill>
                <a:latin typeface="Roboto" pitchFamily="34" charset="0"/>
                <a:ea typeface="Roboto" pitchFamily="34" charset="-122"/>
                <a:cs typeface="Roboto" pitchFamily="34" charset="-120"/>
              </a:rPr>
              <a:t>V3: 88.4%</a:t>
            </a:r>
            <a:endParaRPr lang="en-US" sz="4800" dirty="0"/>
          </a:p>
        </p:txBody>
      </p:sp>
      <p:sp>
        <p:nvSpPr>
          <p:cNvPr id="5" name="Text 3"/>
          <p:cNvSpPr/>
          <p:nvPr/>
        </p:nvSpPr>
        <p:spPr>
          <a:xfrm>
            <a:off x="457200" y="2286000"/>
            <a:ext cx="5029200" cy="457200"/>
          </a:xfrm>
          <a:prstGeom prst="rect">
            <a:avLst/>
          </a:prstGeom>
          <a:noFill/>
          <a:ln/>
        </p:spPr>
        <p:txBody>
          <a:bodyPr wrap="square" rtlCol="0" anchor="ctr"/>
          <a:lstStyle/>
          <a:p>
            <a:pPr marL="0" indent="0">
              <a:buNone/>
            </a:pPr>
            <a:r>
              <a:rPr lang="en-US" sz="2000" dirty="0">
                <a:solidFill>
                  <a:srgbClr val="212121"/>
                </a:solidFill>
                <a:latin typeface="Roboto" pitchFamily="34" charset="0"/>
                <a:ea typeface="Roboto" pitchFamily="34" charset="-122"/>
                <a:cs typeface="Roboto" pitchFamily="34" charset="-120"/>
              </a:rPr>
              <a:t>ImageNet (không nhãn)</a:t>
            </a:r>
            <a:endParaRPr lang="en-US" sz="2000" dirty="0"/>
          </a:p>
        </p:txBody>
      </p:sp>
      <p:sp>
        <p:nvSpPr>
          <p:cNvPr id="6" name="Text 4"/>
          <p:cNvSpPr/>
          <p:nvPr/>
        </p:nvSpPr>
        <p:spPr>
          <a:xfrm>
            <a:off x="6126480" y="1371600"/>
            <a:ext cx="2743200" cy="914400"/>
          </a:xfrm>
          <a:prstGeom prst="rect">
            <a:avLst/>
          </a:prstGeom>
          <a:noFill/>
          <a:ln/>
        </p:spPr>
        <p:txBody>
          <a:bodyPr wrap="square" rtlCol="0" anchor="ctr"/>
          <a:lstStyle/>
          <a:p>
            <a:pPr marL="0" indent="0">
              <a:buNone/>
            </a:pPr>
            <a:r>
              <a:rPr lang="en-US" sz="4800" b="1" dirty="0">
                <a:solidFill>
                  <a:srgbClr val="2E7D32"/>
                </a:solidFill>
                <a:latin typeface="Roboto" pitchFamily="34" charset="0"/>
                <a:ea typeface="Roboto" pitchFamily="34" charset="-122"/>
                <a:cs typeface="Roboto" pitchFamily="34" charset="-120"/>
              </a:rPr>
              <a:t>SOTA</a:t>
            </a:r>
            <a:endParaRPr lang="en-US" sz="4800" dirty="0"/>
          </a:p>
        </p:txBody>
      </p:sp>
      <p:sp>
        <p:nvSpPr>
          <p:cNvPr id="7" name="Text 5"/>
          <p:cNvSpPr/>
          <p:nvPr/>
        </p:nvSpPr>
        <p:spPr>
          <a:xfrm>
            <a:off x="6126480" y="2286000"/>
            <a:ext cx="5029200" cy="457200"/>
          </a:xfrm>
          <a:prstGeom prst="rect">
            <a:avLst/>
          </a:prstGeom>
          <a:noFill/>
          <a:ln/>
        </p:spPr>
        <p:txBody>
          <a:bodyPr wrap="square" rtlCol="0" anchor="ctr"/>
          <a:lstStyle/>
          <a:p>
            <a:pPr marL="0" indent="0">
              <a:buNone/>
            </a:pPr>
            <a:r>
              <a:rPr lang="en-US" sz="2000" dirty="0">
                <a:solidFill>
                  <a:srgbClr val="212121"/>
                </a:solidFill>
                <a:latin typeface="Roboto" pitchFamily="34" charset="0"/>
                <a:ea typeface="Roboto" pitchFamily="34" charset="-122"/>
                <a:cs typeface="Roboto" pitchFamily="34" charset="-120"/>
              </a:rPr>
              <a:t>Segmentation, Depth</a:t>
            </a:r>
            <a:endParaRPr lang="en-US" sz="2000" dirty="0"/>
          </a:p>
        </p:txBody>
      </p:sp>
      <p:sp>
        <p:nvSpPr>
          <p:cNvPr id="8" name="Text 6"/>
          <p:cNvSpPr/>
          <p:nvPr/>
        </p:nvSpPr>
        <p:spPr>
          <a:xfrm>
            <a:off x="457200" y="3657600"/>
            <a:ext cx="2743200" cy="914400"/>
          </a:xfrm>
          <a:prstGeom prst="rect">
            <a:avLst/>
          </a:prstGeom>
          <a:noFill/>
          <a:ln/>
        </p:spPr>
        <p:txBody>
          <a:bodyPr wrap="square" rtlCol="0" anchor="ctr"/>
          <a:lstStyle/>
          <a:p>
            <a:pPr marL="0" indent="0">
              <a:buNone/>
            </a:pPr>
            <a:r>
              <a:rPr lang="en-US" sz="4800" b="1" dirty="0">
                <a:solidFill>
                  <a:srgbClr val="2E7D32"/>
                </a:solidFill>
                <a:latin typeface="Roboto" pitchFamily="34" charset="0"/>
                <a:ea typeface="Roboto" pitchFamily="34" charset="-122"/>
                <a:cs typeface="Roboto" pitchFamily="34" charset="-120"/>
              </a:rPr>
              <a:t>6.7B</a:t>
            </a:r>
            <a:endParaRPr lang="en-US" sz="4800" dirty="0"/>
          </a:p>
        </p:txBody>
      </p:sp>
      <p:sp>
        <p:nvSpPr>
          <p:cNvPr id="9" name="Text 7"/>
          <p:cNvSpPr/>
          <p:nvPr/>
        </p:nvSpPr>
        <p:spPr>
          <a:xfrm>
            <a:off x="457200" y="4572000"/>
            <a:ext cx="5029200" cy="457200"/>
          </a:xfrm>
          <a:prstGeom prst="rect">
            <a:avLst/>
          </a:prstGeom>
          <a:noFill/>
          <a:ln/>
        </p:spPr>
        <p:txBody>
          <a:bodyPr wrap="square" rtlCol="0" anchor="ctr"/>
          <a:lstStyle/>
          <a:p>
            <a:pPr marL="0" indent="0">
              <a:buNone/>
            </a:pPr>
            <a:r>
              <a:rPr lang="en-US" sz="2000" dirty="0">
                <a:solidFill>
                  <a:srgbClr val="212121"/>
                </a:solidFill>
                <a:latin typeface="Roboto" pitchFamily="34" charset="0"/>
                <a:ea typeface="Roboto" pitchFamily="34" charset="-122"/>
                <a:cs typeface="Roboto" pitchFamily="34" charset="-120"/>
              </a:rPr>
              <a:t>parameters (v3)</a:t>
            </a:r>
            <a:endParaRPr lang="en-US" sz="2000" dirty="0"/>
          </a:p>
        </p:txBody>
      </p:sp>
      <p:sp>
        <p:nvSpPr>
          <p:cNvPr id="10" name="Text 8"/>
          <p:cNvSpPr/>
          <p:nvPr/>
        </p:nvSpPr>
        <p:spPr>
          <a:xfrm>
            <a:off x="6126480" y="3657600"/>
            <a:ext cx="2743200" cy="914400"/>
          </a:xfrm>
          <a:prstGeom prst="rect">
            <a:avLst/>
          </a:prstGeom>
          <a:noFill/>
          <a:ln/>
        </p:spPr>
        <p:txBody>
          <a:bodyPr wrap="square" rtlCol="0" anchor="ctr"/>
          <a:lstStyle/>
          <a:p>
            <a:pPr marL="0" indent="0">
              <a:buNone/>
            </a:pPr>
            <a:r>
              <a:rPr lang="en-US" sz="4800" b="1" dirty="0">
                <a:solidFill>
                  <a:srgbClr val="2E7D32"/>
                </a:solidFill>
                <a:latin typeface="Roboto" pitchFamily="34" charset="0"/>
                <a:ea typeface="Roboto" pitchFamily="34" charset="-122"/>
                <a:cs typeface="Roboto" pitchFamily="34" charset="-120"/>
              </a:rPr>
              <a:t>1st</a:t>
            </a:r>
            <a:endParaRPr lang="en-US" sz="4800" dirty="0"/>
          </a:p>
        </p:txBody>
      </p:sp>
      <p:sp>
        <p:nvSpPr>
          <p:cNvPr id="11" name="Text 9"/>
          <p:cNvSpPr/>
          <p:nvPr/>
        </p:nvSpPr>
        <p:spPr>
          <a:xfrm>
            <a:off x="6126480" y="4572000"/>
            <a:ext cx="5029200" cy="457200"/>
          </a:xfrm>
          <a:prstGeom prst="rect">
            <a:avLst/>
          </a:prstGeom>
          <a:noFill/>
          <a:ln/>
        </p:spPr>
        <p:txBody>
          <a:bodyPr wrap="square" rtlCol="0" anchor="ctr"/>
          <a:lstStyle/>
          <a:p>
            <a:pPr marL="0" indent="0">
              <a:buNone/>
            </a:pPr>
            <a:r>
              <a:rPr lang="en-US" sz="2000" dirty="0">
                <a:solidFill>
                  <a:srgbClr val="212121"/>
                </a:solidFill>
                <a:latin typeface="Roboto" pitchFamily="34" charset="0"/>
                <a:ea typeface="Roboto" pitchFamily="34" charset="-122"/>
                <a:cs typeface="Roboto" pitchFamily="34" charset="-120"/>
              </a:rPr>
              <a:t>SSL ≈ Weakly-supervised</a:t>
            </a:r>
            <a:endParaRPr lang="en-US" sz="2000" dirty="0"/>
          </a:p>
        </p:txBody>
      </p:sp>
      <p:sp>
        <p:nvSpPr>
          <p:cNvPr id="12" name="Text 10"/>
          <p:cNvSpPr/>
          <p:nvPr/>
        </p:nvSpPr>
        <p:spPr>
          <a:xfrm>
            <a:off x="457200" y="5943600"/>
            <a:ext cx="11274552" cy="365760"/>
          </a:xfrm>
          <a:prstGeom prst="rect">
            <a:avLst/>
          </a:prstGeom>
          <a:noFill/>
          <a:ln/>
        </p:spPr>
        <p:txBody>
          <a:bodyPr wrap="square" rtlCol="0" anchor="ctr"/>
          <a:lstStyle/>
          <a:p>
            <a:pPr marL="0" indent="0">
              <a:buNone/>
            </a:pPr>
            <a:r>
              <a:rPr lang="en-US" sz="1200" i="1" dirty="0">
                <a:solidFill>
                  <a:srgbClr val="757575"/>
                </a:solidFill>
                <a:latin typeface="Roboto" pitchFamily="34" charset="0"/>
                <a:ea typeface="Roboto" pitchFamily="34" charset="-122"/>
                <a:cs typeface="Roboto" pitchFamily="34" charset="-120"/>
              </a:rPr>
              <a:t>Nguồn: DINOv3 (Siméoni et al., arXiv 2025)</a:t>
            </a:r>
            <a:endParaRPr lang="en-US" sz="1200" dirty="0"/>
          </a:p>
        </p:txBody>
      </p:sp>
      <p:sp>
        <p:nvSpPr>
          <p:cNvPr id="13" name="Shape 11"/>
          <p:cNvSpPr/>
          <p:nvPr/>
        </p:nvSpPr>
        <p:spPr>
          <a:xfrm>
            <a:off x="457200" y="6537960"/>
            <a:ext cx="2209190" cy="228600"/>
          </a:xfrm>
          <a:prstGeom prst="rect">
            <a:avLst/>
          </a:prstGeom>
          <a:solidFill>
            <a:srgbClr val="C62828"/>
          </a:solidFill>
          <a:ln/>
        </p:spPr>
      </p:sp>
      <p:sp>
        <p:nvSpPr>
          <p:cNvPr id="14" name="Text 12"/>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Hook</a:t>
            </a:r>
            <a:endParaRPr lang="en-US" sz="1000" dirty="0"/>
          </a:p>
        </p:txBody>
      </p:sp>
      <p:sp>
        <p:nvSpPr>
          <p:cNvPr id="15" name="Shape 13"/>
          <p:cNvSpPr/>
          <p:nvPr/>
        </p:nvSpPr>
        <p:spPr>
          <a:xfrm>
            <a:off x="2712110" y="6537960"/>
            <a:ext cx="2209190" cy="228600"/>
          </a:xfrm>
          <a:prstGeom prst="rect">
            <a:avLst/>
          </a:prstGeom>
          <a:solidFill>
            <a:srgbClr val="BDBDBD"/>
          </a:solidFill>
          <a:ln/>
        </p:spPr>
      </p:sp>
      <p:sp>
        <p:nvSpPr>
          <p:cNvPr id="16" name="Text 14"/>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17" name="Shape 15"/>
          <p:cNvSpPr/>
          <p:nvPr/>
        </p:nvSpPr>
        <p:spPr>
          <a:xfrm>
            <a:off x="4967021" y="6537960"/>
            <a:ext cx="2209190" cy="228600"/>
          </a:xfrm>
          <a:prstGeom prst="rect">
            <a:avLst/>
          </a:prstGeom>
          <a:solidFill>
            <a:srgbClr val="BDBDBD"/>
          </a:solidFill>
          <a:ln/>
        </p:spPr>
      </p:sp>
      <p:sp>
        <p:nvSpPr>
          <p:cNvPr id="18" name="Text 16"/>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9" name="Shape 17"/>
          <p:cNvSpPr/>
          <p:nvPr/>
        </p:nvSpPr>
        <p:spPr>
          <a:xfrm>
            <a:off x="7221931" y="6537960"/>
            <a:ext cx="2209190" cy="228600"/>
          </a:xfrm>
          <a:prstGeom prst="rect">
            <a:avLst/>
          </a:prstGeom>
          <a:solidFill>
            <a:srgbClr val="BDBDBD"/>
          </a:solidFill>
          <a:ln/>
        </p:spPr>
      </p:sp>
      <p:sp>
        <p:nvSpPr>
          <p:cNvPr id="20" name="Text 18"/>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21" name="Shape 19"/>
          <p:cNvSpPr/>
          <p:nvPr/>
        </p:nvSpPr>
        <p:spPr>
          <a:xfrm>
            <a:off x="9476842" y="6537960"/>
            <a:ext cx="2209190" cy="228600"/>
          </a:xfrm>
          <a:prstGeom prst="rect">
            <a:avLst/>
          </a:prstGeom>
          <a:solidFill>
            <a:srgbClr val="BDBDBD"/>
          </a:solidFill>
          <a:ln/>
        </p:spPr>
      </p:sp>
      <p:sp>
        <p:nvSpPr>
          <p:cNvPr id="22" name="Text 20"/>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2E7D32"/>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Vấn Đề: Gán Nhãn Quá Đắt</a:t>
            </a:r>
            <a:endParaRPr lang="en-US" sz="3200" dirty="0"/>
          </a:p>
        </p:txBody>
      </p:sp>
      <p:sp>
        <p:nvSpPr>
          <p:cNvPr id="4" name="Text 2"/>
          <p:cNvSpPr/>
          <p:nvPr/>
        </p:nvSpPr>
        <p:spPr>
          <a:xfrm>
            <a:off x="457200" y="1463040"/>
            <a:ext cx="2743200" cy="457200"/>
          </a:xfrm>
          <a:prstGeom prst="rect">
            <a:avLst/>
          </a:prstGeom>
          <a:noFill/>
          <a:ln/>
        </p:spPr>
        <p:txBody>
          <a:bodyPr wrap="square" rtlCol="0" anchor="ctr"/>
          <a:lstStyle/>
          <a:p>
            <a:pPr marL="0" indent="0">
              <a:buNone/>
            </a:pPr>
            <a:r>
              <a:rPr lang="en-US" sz="2400" b="1" dirty="0">
                <a:solidFill>
                  <a:srgbClr val="C62828"/>
                </a:solidFill>
                <a:latin typeface="Roboto" pitchFamily="34" charset="0"/>
                <a:ea typeface="Roboto" pitchFamily="34" charset="-122"/>
                <a:cs typeface="Roboto" pitchFamily="34" charset="-120"/>
              </a:rPr>
              <a:t>ImageNet:</a:t>
            </a:r>
            <a:endParaRPr lang="en-US" sz="2400" dirty="0"/>
          </a:p>
        </p:txBody>
      </p:sp>
      <p:sp>
        <p:nvSpPr>
          <p:cNvPr id="5" name="Text 3"/>
          <p:cNvSpPr/>
          <p:nvPr/>
        </p:nvSpPr>
        <p:spPr>
          <a:xfrm>
            <a:off x="457200" y="2011680"/>
            <a:ext cx="11274552" cy="548640"/>
          </a:xfrm>
          <a:prstGeom prst="rect">
            <a:avLst/>
          </a:prstGeom>
          <a:noFill/>
          <a:ln/>
        </p:spPr>
        <p:txBody>
          <a:bodyPr wrap="square" rtlCol="0" anchor="ctr"/>
          <a:lstStyle/>
          <a:p>
            <a:pPr marL="0" indent="0">
              <a:buNone/>
            </a:pPr>
            <a:r>
              <a:rPr lang="en-US" sz="2800" dirty="0">
                <a:solidFill>
                  <a:srgbClr val="212121"/>
                </a:solidFill>
                <a:latin typeface="Roboto" pitchFamily="34" charset="0"/>
                <a:ea typeface="Roboto" pitchFamily="34" charset="-122"/>
                <a:cs typeface="Roboto" pitchFamily="34" charset="-120"/>
              </a:rPr>
              <a:t>22K categories  •  15 triệu ảnh  •  2+ năm</a:t>
            </a:r>
            <a:endParaRPr lang="en-US" sz="2800" dirty="0"/>
          </a:p>
        </p:txBody>
      </p:sp>
      <p:sp>
        <p:nvSpPr>
          <p:cNvPr id="6" name="Text 4"/>
          <p:cNvSpPr/>
          <p:nvPr/>
        </p:nvSpPr>
        <p:spPr>
          <a:xfrm>
            <a:off x="457200" y="2926080"/>
            <a:ext cx="11274552" cy="731520"/>
          </a:xfrm>
          <a:prstGeom prst="rect">
            <a:avLst/>
          </a:prstGeom>
          <a:noFill/>
          <a:ln/>
        </p:spPr>
        <p:txBody>
          <a:bodyPr wrap="square" rtlCol="0" anchor="ctr"/>
          <a:lstStyle/>
          <a:p>
            <a:pPr marL="0" indent="0" algn="ctr">
              <a:buNone/>
            </a:pPr>
            <a:r>
              <a:rPr lang="en-US" sz="4800" dirty="0">
                <a:solidFill>
                  <a:srgbClr val="757575"/>
                </a:solidFill>
                <a:latin typeface="Roboto" pitchFamily="34" charset="0"/>
                <a:ea typeface="Roboto" pitchFamily="34" charset="-122"/>
                <a:cs typeface="Roboto" pitchFamily="34" charset="-120"/>
              </a:rPr>
              <a:t>↓</a:t>
            </a:r>
            <a:endParaRPr lang="en-US" sz="4800" dirty="0"/>
          </a:p>
        </p:txBody>
      </p:sp>
      <p:sp>
        <p:nvSpPr>
          <p:cNvPr id="7" name="Text 5"/>
          <p:cNvSpPr/>
          <p:nvPr/>
        </p:nvSpPr>
        <p:spPr>
          <a:xfrm>
            <a:off x="457200" y="3840480"/>
            <a:ext cx="2743200" cy="457200"/>
          </a:xfrm>
          <a:prstGeom prst="rect">
            <a:avLst/>
          </a:prstGeom>
          <a:noFill/>
          <a:ln/>
        </p:spPr>
        <p:txBody>
          <a:bodyPr wrap="square" rtlCol="0" anchor="ctr"/>
          <a:lstStyle/>
          <a:p>
            <a:pPr marL="0" indent="0">
              <a:buNone/>
            </a:pPr>
            <a:r>
              <a:rPr lang="en-US" sz="2400" b="1" dirty="0">
                <a:solidFill>
                  <a:srgbClr val="2E7D32"/>
                </a:solidFill>
                <a:latin typeface="Roboto" pitchFamily="34" charset="0"/>
                <a:ea typeface="Roboto" pitchFamily="34" charset="-122"/>
                <a:cs typeface="Roboto" pitchFamily="34" charset="-120"/>
              </a:rPr>
              <a:t>Mục tiêu:</a:t>
            </a:r>
            <a:endParaRPr lang="en-US" sz="2400" dirty="0"/>
          </a:p>
        </p:txBody>
      </p:sp>
      <p:sp>
        <p:nvSpPr>
          <p:cNvPr id="8" name="Text 6"/>
          <p:cNvSpPr/>
          <p:nvPr/>
        </p:nvSpPr>
        <p:spPr>
          <a:xfrm>
            <a:off x="457200" y="4389120"/>
            <a:ext cx="11274552" cy="548640"/>
          </a:xfrm>
          <a:prstGeom prst="rect">
            <a:avLst/>
          </a:prstGeom>
          <a:noFill/>
          <a:ln/>
        </p:spPr>
        <p:txBody>
          <a:bodyPr wrap="square" rtlCol="0" anchor="ctr"/>
          <a:lstStyle/>
          <a:p>
            <a:pPr marL="0" indent="0">
              <a:buNone/>
            </a:pPr>
            <a:r>
              <a:rPr lang="en-US" sz="2800" dirty="0">
                <a:solidFill>
                  <a:srgbClr val="212121"/>
                </a:solidFill>
                <a:latin typeface="Roboto" pitchFamily="34" charset="0"/>
                <a:ea typeface="Roboto" pitchFamily="34" charset="-122"/>
                <a:cs typeface="Roboto" pitchFamily="34" charset="-120"/>
              </a:rPr>
              <a:t>Tỉ ảnh  •  $0  •  Tự động</a:t>
            </a:r>
            <a:endParaRPr lang="en-US" sz="2800" dirty="0"/>
          </a:p>
        </p:txBody>
      </p:sp>
      <p:sp>
        <p:nvSpPr>
          <p:cNvPr id="9" name="Text 7"/>
          <p:cNvSpPr/>
          <p:nvPr/>
        </p:nvSpPr>
        <p:spPr>
          <a:xfrm>
            <a:off x="457200" y="5486400"/>
            <a:ext cx="11274552" cy="457200"/>
          </a:xfrm>
          <a:prstGeom prst="rect">
            <a:avLst/>
          </a:prstGeom>
          <a:noFill/>
          <a:ln/>
        </p:spPr>
        <p:txBody>
          <a:bodyPr wrap="square" rtlCol="0" anchor="ctr"/>
          <a:lstStyle/>
          <a:p>
            <a:pPr marL="0" indent="0" algn="ctr">
              <a:buNone/>
            </a:pPr>
            <a:r>
              <a:rPr lang="en-US" sz="2400" b="1" dirty="0">
                <a:solidFill>
                  <a:srgbClr val="C62828"/>
                </a:solidFill>
                <a:latin typeface="Roboto" pitchFamily="34" charset="0"/>
                <a:ea typeface="Roboto" pitchFamily="34" charset="-122"/>
                <a:cs typeface="Roboto" pitchFamily="34" charset="-120"/>
              </a:rPr>
              <a:t>Train model TỐT mà KHÔNG cần nhãn?</a:t>
            </a:r>
            <a:endParaRPr lang="en-US" sz="2400" dirty="0"/>
          </a:p>
        </p:txBody>
      </p:sp>
      <p:sp>
        <p:nvSpPr>
          <p:cNvPr id="10" name="Text 8"/>
          <p:cNvSpPr/>
          <p:nvPr/>
        </p:nvSpPr>
        <p:spPr>
          <a:xfrm>
            <a:off x="457200" y="6035040"/>
            <a:ext cx="11274552" cy="274320"/>
          </a:xfrm>
          <a:prstGeom prst="rect">
            <a:avLst/>
          </a:prstGeom>
          <a:noFill/>
          <a:ln/>
        </p:spPr>
        <p:txBody>
          <a:bodyPr wrap="square" rtlCol="0" anchor="ctr"/>
          <a:lstStyle/>
          <a:p>
            <a:pPr marL="0" indent="0">
              <a:buNone/>
            </a:pPr>
            <a:r>
              <a:rPr lang="en-US" sz="1100" i="1" dirty="0">
                <a:solidFill>
                  <a:srgbClr val="757575"/>
                </a:solidFill>
                <a:latin typeface="Roboto" pitchFamily="34" charset="0"/>
                <a:ea typeface="Roboto" pitchFamily="34" charset="-122"/>
                <a:cs typeface="Roboto" pitchFamily="34" charset="-120"/>
              </a:rPr>
              <a:t>Nguồn: image-net.org, Deng et al. 2009, Russakovsky et al. 2015</a:t>
            </a:r>
            <a:endParaRPr lang="en-US" sz="1100" dirty="0"/>
          </a:p>
        </p:txBody>
      </p:sp>
      <p:sp>
        <p:nvSpPr>
          <p:cNvPr id="11" name="Shape 9"/>
          <p:cNvSpPr/>
          <p:nvPr/>
        </p:nvSpPr>
        <p:spPr>
          <a:xfrm>
            <a:off x="457200" y="6537960"/>
            <a:ext cx="2209190" cy="228600"/>
          </a:xfrm>
          <a:prstGeom prst="rect">
            <a:avLst/>
          </a:prstGeom>
          <a:solidFill>
            <a:srgbClr val="C62828"/>
          </a:solidFill>
          <a:ln/>
        </p:spPr>
      </p:sp>
      <p:sp>
        <p:nvSpPr>
          <p:cNvPr id="12" name="Text 10"/>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Hook</a:t>
            </a:r>
            <a:endParaRPr lang="en-US" sz="1000" dirty="0"/>
          </a:p>
        </p:txBody>
      </p:sp>
      <p:sp>
        <p:nvSpPr>
          <p:cNvPr id="13" name="Shape 11"/>
          <p:cNvSpPr/>
          <p:nvPr/>
        </p:nvSpPr>
        <p:spPr>
          <a:xfrm>
            <a:off x="2712110" y="6537960"/>
            <a:ext cx="2209190" cy="228600"/>
          </a:xfrm>
          <a:prstGeom prst="rect">
            <a:avLst/>
          </a:prstGeom>
          <a:solidFill>
            <a:srgbClr val="BDBDBD"/>
          </a:solidFill>
          <a:ln/>
        </p:spPr>
      </p:sp>
      <p:sp>
        <p:nvSpPr>
          <p:cNvPr id="14" name="Text 12"/>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DINOv1</a:t>
            </a:r>
            <a:endParaRPr lang="en-US" sz="1000" dirty="0"/>
          </a:p>
        </p:txBody>
      </p:sp>
      <p:sp>
        <p:nvSpPr>
          <p:cNvPr id="15" name="Shape 13"/>
          <p:cNvSpPr/>
          <p:nvPr/>
        </p:nvSpPr>
        <p:spPr>
          <a:xfrm>
            <a:off x="4967021" y="6537960"/>
            <a:ext cx="2209190" cy="228600"/>
          </a:xfrm>
          <a:prstGeom prst="rect">
            <a:avLst/>
          </a:prstGeom>
          <a:solidFill>
            <a:srgbClr val="BDBDBD"/>
          </a:solidFill>
          <a:ln/>
        </p:spPr>
      </p:sp>
      <p:sp>
        <p:nvSpPr>
          <p:cNvPr id="16" name="Text 14"/>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7" name="Shape 15"/>
          <p:cNvSpPr/>
          <p:nvPr/>
        </p:nvSpPr>
        <p:spPr>
          <a:xfrm>
            <a:off x="7221931" y="6537960"/>
            <a:ext cx="2209190" cy="228600"/>
          </a:xfrm>
          <a:prstGeom prst="rect">
            <a:avLst/>
          </a:prstGeom>
          <a:solidFill>
            <a:srgbClr val="BDBDBD"/>
          </a:solidFill>
          <a:ln/>
        </p:spPr>
      </p:sp>
      <p:sp>
        <p:nvSpPr>
          <p:cNvPr id="18" name="Text 16"/>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9" name="Shape 17"/>
          <p:cNvSpPr/>
          <p:nvPr/>
        </p:nvSpPr>
        <p:spPr>
          <a:xfrm>
            <a:off x="9476842" y="6537960"/>
            <a:ext cx="2209190" cy="228600"/>
          </a:xfrm>
          <a:prstGeom prst="rect">
            <a:avLst/>
          </a:prstGeom>
          <a:solidFill>
            <a:srgbClr val="BDBDBD"/>
          </a:solidFill>
          <a:ln/>
        </p:spPr>
      </p:sp>
      <p:sp>
        <p:nvSpPr>
          <p:cNvPr id="20" name="Text 18"/>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Tổng Quan: Ý t</a:t>
            </a:r>
            <a:r>
              <a:rPr lang="vi-VN" sz="3200" b="1" dirty="0">
                <a:solidFill>
                  <a:srgbClr val="FFFFFF"/>
                </a:solidFill>
                <a:latin typeface="Roboto" pitchFamily="34" charset="0"/>
                <a:ea typeface="Roboto" pitchFamily="34" charset="-122"/>
                <a:cs typeface="Roboto" pitchFamily="34" charset="-120"/>
              </a:rPr>
              <a:t>ư</a:t>
            </a:r>
            <a:r>
              <a:rPr lang="en-US" sz="3200" b="1" dirty="0" err="1">
                <a:solidFill>
                  <a:srgbClr val="FFFFFF"/>
                </a:solidFill>
                <a:latin typeface="Roboto" pitchFamily="34" charset="0"/>
                <a:ea typeface="Roboto" pitchFamily="34" charset="-122"/>
                <a:cs typeface="Roboto" pitchFamily="34" charset="-120"/>
              </a:rPr>
              <a:t>ởng</a:t>
            </a:r>
            <a:endParaRPr lang="en-US" sz="3200" dirty="0"/>
          </a:p>
        </p:txBody>
      </p:sp>
      <p:sp>
        <p:nvSpPr>
          <p:cNvPr id="7" name="Shape 5"/>
          <p:cNvSpPr/>
          <p:nvPr/>
        </p:nvSpPr>
        <p:spPr>
          <a:xfrm>
            <a:off x="457200" y="6537960"/>
            <a:ext cx="2209190" cy="228600"/>
          </a:xfrm>
          <a:prstGeom prst="rect">
            <a:avLst/>
          </a:prstGeom>
          <a:solidFill>
            <a:srgbClr val="BDBDBD"/>
          </a:solidFill>
          <a:ln/>
        </p:spPr>
      </p:sp>
      <p:sp>
        <p:nvSpPr>
          <p:cNvPr id="8" name="Text 6"/>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9" name="Shape 7"/>
          <p:cNvSpPr/>
          <p:nvPr/>
        </p:nvSpPr>
        <p:spPr>
          <a:xfrm>
            <a:off x="2712110" y="6537960"/>
            <a:ext cx="2209190" cy="228600"/>
          </a:xfrm>
          <a:prstGeom prst="rect">
            <a:avLst/>
          </a:prstGeom>
          <a:solidFill>
            <a:srgbClr val="C62828"/>
          </a:solidFill>
          <a:ln/>
        </p:spPr>
      </p:sp>
      <p:sp>
        <p:nvSpPr>
          <p:cNvPr id="10" name="Text 8"/>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11" name="Shape 9"/>
          <p:cNvSpPr/>
          <p:nvPr/>
        </p:nvSpPr>
        <p:spPr>
          <a:xfrm>
            <a:off x="4967021" y="6537960"/>
            <a:ext cx="2209190" cy="228600"/>
          </a:xfrm>
          <a:prstGeom prst="rect">
            <a:avLst/>
          </a:prstGeom>
          <a:solidFill>
            <a:srgbClr val="BDBDBD"/>
          </a:solidFill>
          <a:ln/>
        </p:spPr>
      </p:sp>
      <p:sp>
        <p:nvSpPr>
          <p:cNvPr id="12" name="Text 10"/>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3" name="Shape 11"/>
          <p:cNvSpPr/>
          <p:nvPr/>
        </p:nvSpPr>
        <p:spPr>
          <a:xfrm>
            <a:off x="7221931" y="6537960"/>
            <a:ext cx="2209190" cy="228600"/>
          </a:xfrm>
          <a:prstGeom prst="rect">
            <a:avLst/>
          </a:prstGeom>
          <a:solidFill>
            <a:srgbClr val="BDBDBD"/>
          </a:solidFill>
          <a:ln/>
        </p:spPr>
      </p:sp>
      <p:sp>
        <p:nvSpPr>
          <p:cNvPr id="14" name="Text 12"/>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5" name="Shape 13"/>
          <p:cNvSpPr/>
          <p:nvPr/>
        </p:nvSpPr>
        <p:spPr>
          <a:xfrm>
            <a:off x="9476842" y="6537960"/>
            <a:ext cx="2209190" cy="228600"/>
          </a:xfrm>
          <a:prstGeom prst="rect">
            <a:avLst/>
          </a:prstGeom>
          <a:solidFill>
            <a:srgbClr val="BDBDBD"/>
          </a:solidFill>
          <a:ln/>
        </p:spPr>
      </p:sp>
      <p:sp>
        <p:nvSpPr>
          <p:cNvPr id="16" name="Text 14"/>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pic>
        <p:nvPicPr>
          <p:cNvPr id="21" name="Picture 20">
            <a:extLst>
              <a:ext uri="{FF2B5EF4-FFF2-40B4-BE49-F238E27FC236}">
                <a16:creationId xmlns:a16="http://schemas.microsoft.com/office/drawing/2014/main" id="{66CDA4C4-5B5E-47D1-BA0B-0D49F8F7E3C6}"/>
              </a:ext>
            </a:extLst>
          </p:cNvPr>
          <p:cNvPicPr>
            <a:picLocks noChangeAspect="1"/>
          </p:cNvPicPr>
          <p:nvPr/>
        </p:nvPicPr>
        <p:blipFill>
          <a:blip r:embed="rId3"/>
          <a:stretch>
            <a:fillRect/>
          </a:stretch>
        </p:blipFill>
        <p:spPr>
          <a:xfrm>
            <a:off x="457200" y="1874596"/>
            <a:ext cx="4815637" cy="3611728"/>
          </a:xfrm>
          <a:prstGeom prst="rect">
            <a:avLst/>
          </a:prstGeom>
        </p:spPr>
      </p:pic>
      <p:pic>
        <p:nvPicPr>
          <p:cNvPr id="24" name="Picture 23">
            <a:extLst>
              <a:ext uri="{FF2B5EF4-FFF2-40B4-BE49-F238E27FC236}">
                <a16:creationId xmlns:a16="http://schemas.microsoft.com/office/drawing/2014/main" id="{1129B2A4-36FF-4FB4-B671-2C0E6DBA1767}"/>
              </a:ext>
            </a:extLst>
          </p:cNvPr>
          <p:cNvPicPr>
            <a:picLocks noChangeAspect="1"/>
          </p:cNvPicPr>
          <p:nvPr/>
        </p:nvPicPr>
        <p:blipFill rotWithShape="1">
          <a:blip r:embed="rId3"/>
          <a:srcRect t="50000"/>
          <a:stretch/>
        </p:blipFill>
        <p:spPr>
          <a:xfrm>
            <a:off x="6259067" y="1639248"/>
            <a:ext cx="4834383" cy="1812894"/>
          </a:xfrm>
          <a:prstGeom prst="rect">
            <a:avLst/>
          </a:prstGeom>
        </p:spPr>
      </p:pic>
      <p:pic>
        <p:nvPicPr>
          <p:cNvPr id="25" name="Picture 24">
            <a:extLst>
              <a:ext uri="{FF2B5EF4-FFF2-40B4-BE49-F238E27FC236}">
                <a16:creationId xmlns:a16="http://schemas.microsoft.com/office/drawing/2014/main" id="{490EF5F6-DC53-45D5-91C0-9919DE45A422}"/>
              </a:ext>
            </a:extLst>
          </p:cNvPr>
          <p:cNvPicPr>
            <a:picLocks noChangeAspect="1"/>
          </p:cNvPicPr>
          <p:nvPr/>
        </p:nvPicPr>
        <p:blipFill rotWithShape="1">
          <a:blip r:embed="rId3"/>
          <a:srcRect l="33729" t="42301" r="33031"/>
          <a:stretch/>
        </p:blipFill>
        <p:spPr>
          <a:xfrm>
            <a:off x="7952193" y="4203700"/>
            <a:ext cx="1600709" cy="2083918"/>
          </a:xfrm>
          <a:prstGeom prst="rect">
            <a:avLst/>
          </a:prstGeom>
        </p:spPr>
      </p:pic>
      <p:pic>
        <p:nvPicPr>
          <p:cNvPr id="26" name="Picture 25">
            <a:extLst>
              <a:ext uri="{FF2B5EF4-FFF2-40B4-BE49-F238E27FC236}">
                <a16:creationId xmlns:a16="http://schemas.microsoft.com/office/drawing/2014/main" id="{CBB7519C-952A-47E7-A1BA-BA73535AD8E3}"/>
              </a:ext>
            </a:extLst>
          </p:cNvPr>
          <p:cNvPicPr>
            <a:picLocks noChangeAspect="1"/>
          </p:cNvPicPr>
          <p:nvPr/>
        </p:nvPicPr>
        <p:blipFill rotWithShape="1">
          <a:blip r:embed="rId3"/>
          <a:srcRect t="42301" r="66760"/>
          <a:stretch/>
        </p:blipFill>
        <p:spPr>
          <a:xfrm>
            <a:off x="6123304" y="4240606"/>
            <a:ext cx="1600709" cy="2083918"/>
          </a:xfrm>
          <a:prstGeom prst="rect">
            <a:avLst/>
          </a:prstGeom>
        </p:spPr>
      </p:pic>
      <p:pic>
        <p:nvPicPr>
          <p:cNvPr id="27" name="Picture 26">
            <a:extLst>
              <a:ext uri="{FF2B5EF4-FFF2-40B4-BE49-F238E27FC236}">
                <a16:creationId xmlns:a16="http://schemas.microsoft.com/office/drawing/2014/main" id="{11A3EFB0-8F3A-4565-A001-5D8B59DB261C}"/>
              </a:ext>
            </a:extLst>
          </p:cNvPr>
          <p:cNvPicPr>
            <a:picLocks noChangeAspect="1"/>
          </p:cNvPicPr>
          <p:nvPr/>
        </p:nvPicPr>
        <p:blipFill rotWithShape="1">
          <a:blip r:embed="rId3"/>
          <a:srcRect l="66760" t="41934" b="367"/>
          <a:stretch/>
        </p:blipFill>
        <p:spPr>
          <a:xfrm>
            <a:off x="9781082" y="4203700"/>
            <a:ext cx="1600709" cy="2083918"/>
          </a:xfrm>
          <a:prstGeom prst="rect">
            <a:avLst/>
          </a:prstGeom>
        </p:spPr>
      </p:pic>
      <p:sp>
        <p:nvSpPr>
          <p:cNvPr id="28" name="Rectangle 27">
            <a:extLst>
              <a:ext uri="{FF2B5EF4-FFF2-40B4-BE49-F238E27FC236}">
                <a16:creationId xmlns:a16="http://schemas.microsoft.com/office/drawing/2014/main" id="{4EF87AB7-8E30-4F1E-BD61-1191F46C3B81}"/>
              </a:ext>
            </a:extLst>
          </p:cNvPr>
          <p:cNvSpPr/>
          <p:nvPr/>
        </p:nvSpPr>
        <p:spPr>
          <a:xfrm>
            <a:off x="6279170" y="1112853"/>
            <a:ext cx="1765227" cy="461665"/>
          </a:xfrm>
          <a:prstGeom prst="rect">
            <a:avLst/>
          </a:prstGeom>
        </p:spPr>
        <p:txBody>
          <a:bodyPr wrap="none">
            <a:spAutoFit/>
          </a:bodyPr>
          <a:lstStyle/>
          <a:p>
            <a:r>
              <a:rPr lang="en-US" sz="2400" b="1" dirty="0">
                <a:solidFill>
                  <a:srgbClr val="212121"/>
                </a:solidFill>
                <a:latin typeface="Roboto" pitchFamily="34" charset="0"/>
                <a:ea typeface="Roboto" pitchFamily="34" charset="-122"/>
                <a:cs typeface="Roboto" pitchFamily="34" charset="-120"/>
              </a:rPr>
              <a:t>Global crop</a:t>
            </a:r>
            <a:endParaRPr lang="en-US" sz="2400" dirty="0"/>
          </a:p>
        </p:txBody>
      </p:sp>
      <p:sp>
        <p:nvSpPr>
          <p:cNvPr id="29" name="Rectangle 28">
            <a:extLst>
              <a:ext uri="{FF2B5EF4-FFF2-40B4-BE49-F238E27FC236}">
                <a16:creationId xmlns:a16="http://schemas.microsoft.com/office/drawing/2014/main" id="{A19CA856-1EDC-47D0-A3BB-16C7A7F96708}"/>
              </a:ext>
            </a:extLst>
          </p:cNvPr>
          <p:cNvSpPr/>
          <p:nvPr/>
        </p:nvSpPr>
        <p:spPr>
          <a:xfrm>
            <a:off x="6259067" y="3718560"/>
            <a:ext cx="1627369" cy="461665"/>
          </a:xfrm>
          <a:prstGeom prst="rect">
            <a:avLst/>
          </a:prstGeom>
        </p:spPr>
        <p:txBody>
          <a:bodyPr wrap="none">
            <a:spAutoFit/>
          </a:bodyPr>
          <a:lstStyle/>
          <a:p>
            <a:r>
              <a:rPr lang="en-US" sz="2400" b="1" dirty="0">
                <a:solidFill>
                  <a:srgbClr val="212121"/>
                </a:solidFill>
                <a:latin typeface="Roboto" pitchFamily="34" charset="0"/>
                <a:ea typeface="Roboto" pitchFamily="34" charset="-122"/>
                <a:cs typeface="Roboto" pitchFamily="34" charset="-120"/>
              </a:rPr>
              <a:t>Local crop</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Tổng Quan: </a:t>
            </a:r>
            <a:r>
              <a:rPr lang="en-US" sz="3200" b="1" dirty="0" err="1">
                <a:solidFill>
                  <a:srgbClr val="FFFFFF"/>
                </a:solidFill>
                <a:latin typeface="Roboto" pitchFamily="34" charset="0"/>
                <a:ea typeface="Roboto" pitchFamily="34" charset="-122"/>
                <a:cs typeface="Roboto" pitchFamily="34" charset="-120"/>
              </a:rPr>
              <a:t>Mô</a:t>
            </a:r>
            <a:r>
              <a:rPr lang="en-US" sz="3200" b="1" dirty="0">
                <a:solidFill>
                  <a:srgbClr val="FFFFFF"/>
                </a:solidFill>
                <a:latin typeface="Roboto" pitchFamily="34" charset="0"/>
                <a:ea typeface="Roboto" pitchFamily="34" charset="-122"/>
                <a:cs typeface="Roboto" pitchFamily="34" charset="-120"/>
              </a:rPr>
              <a:t> hình</a:t>
            </a:r>
            <a:endParaRPr lang="en-US" sz="3200" dirty="0"/>
          </a:p>
        </p:txBody>
      </p:sp>
      <p:sp>
        <p:nvSpPr>
          <p:cNvPr id="6" name="Text 4"/>
          <p:cNvSpPr/>
          <p:nvPr/>
        </p:nvSpPr>
        <p:spPr>
          <a:xfrm>
            <a:off x="2666390" y="1234745"/>
            <a:ext cx="11274552" cy="457200"/>
          </a:xfrm>
          <a:prstGeom prst="rect">
            <a:avLst/>
          </a:prstGeom>
          <a:noFill/>
          <a:ln/>
        </p:spPr>
        <p:txBody>
          <a:bodyPr wrap="square" rtlCol="0" anchor="ctr"/>
          <a:lstStyle/>
          <a:p>
            <a:pPr marL="0" indent="0" algn="ctr">
              <a:buNone/>
            </a:pPr>
            <a:r>
              <a:rPr lang="en-US" sz="2400" b="1" dirty="0">
                <a:solidFill>
                  <a:srgbClr val="212121"/>
                </a:solidFill>
                <a:latin typeface="Roboto" pitchFamily="34" charset="0"/>
                <a:ea typeface="Roboto" pitchFamily="34" charset="-122"/>
                <a:cs typeface="Roboto" pitchFamily="34" charset="-120"/>
              </a:rPr>
              <a:t>2 networks  •  2 views  •  1 loss</a:t>
            </a:r>
            <a:endParaRPr lang="en-US" sz="2400" dirty="0"/>
          </a:p>
        </p:txBody>
      </p:sp>
      <p:sp>
        <p:nvSpPr>
          <p:cNvPr id="7" name="Shape 5"/>
          <p:cNvSpPr/>
          <p:nvPr/>
        </p:nvSpPr>
        <p:spPr>
          <a:xfrm>
            <a:off x="457200" y="6537960"/>
            <a:ext cx="2209190" cy="228600"/>
          </a:xfrm>
          <a:prstGeom prst="rect">
            <a:avLst/>
          </a:prstGeom>
          <a:solidFill>
            <a:srgbClr val="BDBDBD"/>
          </a:solidFill>
          <a:ln/>
        </p:spPr>
      </p:sp>
      <p:sp>
        <p:nvSpPr>
          <p:cNvPr id="8" name="Text 6"/>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9" name="Shape 7"/>
          <p:cNvSpPr/>
          <p:nvPr/>
        </p:nvSpPr>
        <p:spPr>
          <a:xfrm>
            <a:off x="2712110" y="6537960"/>
            <a:ext cx="2209190" cy="228600"/>
          </a:xfrm>
          <a:prstGeom prst="rect">
            <a:avLst/>
          </a:prstGeom>
          <a:solidFill>
            <a:srgbClr val="C62828"/>
          </a:solidFill>
          <a:ln/>
        </p:spPr>
      </p:sp>
      <p:sp>
        <p:nvSpPr>
          <p:cNvPr id="10" name="Text 8"/>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11" name="Shape 9"/>
          <p:cNvSpPr/>
          <p:nvPr/>
        </p:nvSpPr>
        <p:spPr>
          <a:xfrm>
            <a:off x="4967021" y="6537960"/>
            <a:ext cx="2209190" cy="228600"/>
          </a:xfrm>
          <a:prstGeom prst="rect">
            <a:avLst/>
          </a:prstGeom>
          <a:solidFill>
            <a:srgbClr val="BDBDBD"/>
          </a:solidFill>
          <a:ln/>
        </p:spPr>
      </p:sp>
      <p:sp>
        <p:nvSpPr>
          <p:cNvPr id="12" name="Text 10"/>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3" name="Shape 11"/>
          <p:cNvSpPr/>
          <p:nvPr/>
        </p:nvSpPr>
        <p:spPr>
          <a:xfrm>
            <a:off x="7221931" y="6537960"/>
            <a:ext cx="2209190" cy="228600"/>
          </a:xfrm>
          <a:prstGeom prst="rect">
            <a:avLst/>
          </a:prstGeom>
          <a:solidFill>
            <a:srgbClr val="BDBDBD"/>
          </a:solidFill>
          <a:ln/>
        </p:spPr>
      </p:sp>
      <p:sp>
        <p:nvSpPr>
          <p:cNvPr id="14" name="Text 12"/>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5" name="Shape 13"/>
          <p:cNvSpPr/>
          <p:nvPr/>
        </p:nvSpPr>
        <p:spPr>
          <a:xfrm>
            <a:off x="9476842" y="6537960"/>
            <a:ext cx="2209190" cy="228600"/>
          </a:xfrm>
          <a:prstGeom prst="rect">
            <a:avLst/>
          </a:prstGeom>
          <a:solidFill>
            <a:srgbClr val="BDBDBD"/>
          </a:solidFill>
          <a:ln/>
        </p:spPr>
      </p:sp>
      <p:sp>
        <p:nvSpPr>
          <p:cNvPr id="16" name="Text 14"/>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pic>
        <p:nvPicPr>
          <p:cNvPr id="17" name="Picture 16">
            <a:extLst>
              <a:ext uri="{FF2B5EF4-FFF2-40B4-BE49-F238E27FC236}">
                <a16:creationId xmlns:a16="http://schemas.microsoft.com/office/drawing/2014/main" id="{BD629C05-A300-4E34-A805-9E67C0724348}"/>
              </a:ext>
            </a:extLst>
          </p:cNvPr>
          <p:cNvPicPr>
            <a:picLocks noChangeAspect="1"/>
          </p:cNvPicPr>
          <p:nvPr/>
        </p:nvPicPr>
        <p:blipFill>
          <a:blip r:embed="rId3"/>
          <a:stretch>
            <a:fillRect/>
          </a:stretch>
        </p:blipFill>
        <p:spPr>
          <a:xfrm>
            <a:off x="195479" y="832106"/>
            <a:ext cx="5130800" cy="5568694"/>
          </a:xfrm>
          <a:prstGeom prst="rect">
            <a:avLst/>
          </a:prstGeom>
        </p:spPr>
      </p:pic>
      <p:sp>
        <p:nvSpPr>
          <p:cNvPr id="18" name="Rectangle 17">
            <a:extLst>
              <a:ext uri="{FF2B5EF4-FFF2-40B4-BE49-F238E27FC236}">
                <a16:creationId xmlns:a16="http://schemas.microsoft.com/office/drawing/2014/main" id="{6245C833-7A0F-4625-9557-16F47DA09A7E}"/>
              </a:ext>
            </a:extLst>
          </p:cNvPr>
          <p:cNvSpPr/>
          <p:nvPr/>
        </p:nvSpPr>
        <p:spPr>
          <a:xfrm>
            <a:off x="5900521" y="1736787"/>
            <a:ext cx="6096000" cy="3269857"/>
          </a:xfrm>
          <a:prstGeom prst="rect">
            <a:avLst/>
          </a:prstGeom>
          <a:noFill/>
          <a:ln/>
        </p:spPr>
        <p:txBody>
          <a:bodyPr wrap="square" rtlCol="0" anchor="ctr"/>
          <a:lstStyle/>
          <a:p>
            <a:r>
              <a:rPr lang="en-US" sz="2400" dirty="0">
                <a:solidFill>
                  <a:srgbClr val="212121"/>
                </a:solidFill>
                <a:latin typeface="Roboto" pitchFamily="34" charset="0"/>
                <a:ea typeface="Roboto" pitchFamily="34" charset="-122"/>
              </a:rPr>
              <a:t>- 1 </a:t>
            </a:r>
            <a:r>
              <a:rPr lang="en-US" sz="2400" dirty="0" err="1">
                <a:solidFill>
                  <a:srgbClr val="212121"/>
                </a:solidFill>
                <a:latin typeface="Roboto" pitchFamily="34" charset="0"/>
                <a:ea typeface="Roboto" pitchFamily="34" charset="-122"/>
              </a:rPr>
              <a:t>ảnh</a:t>
            </a:r>
            <a:r>
              <a:rPr lang="en-US" sz="2400" dirty="0">
                <a:solidFill>
                  <a:srgbClr val="212121"/>
                </a:solidFill>
                <a:latin typeface="Roboto" pitchFamily="34" charset="0"/>
                <a:ea typeface="Roboto" pitchFamily="34" charset="-122"/>
              </a:rPr>
              <a:t> (x) được crop thành nhiều views
- Student </a:t>
            </a:r>
            <a:r>
              <a:rPr lang="en-US" sz="2400" dirty="0" err="1">
                <a:solidFill>
                  <a:srgbClr val="212121"/>
                </a:solidFill>
                <a:latin typeface="Roboto" pitchFamily="34" charset="0"/>
                <a:ea typeface="Roboto" pitchFamily="34" charset="-122"/>
              </a:rPr>
              <a:t>nhận</a:t>
            </a:r>
            <a:r>
              <a:rPr lang="en-US" sz="2400" dirty="0">
                <a:solidFill>
                  <a:srgbClr val="212121"/>
                </a:solidFill>
                <a:latin typeface="Roboto" pitchFamily="34" charset="0"/>
                <a:ea typeface="Roboto" pitchFamily="34" charset="-122"/>
              </a:rPr>
              <a:t> local crops x</a:t>
            </a:r>
            <a:r>
              <a:rPr lang="en-US" sz="2400" baseline="-25000" dirty="0">
                <a:solidFill>
                  <a:srgbClr val="212121"/>
                </a:solidFill>
                <a:latin typeface="Roboto" pitchFamily="34" charset="0"/>
                <a:ea typeface="Roboto" pitchFamily="34" charset="-122"/>
              </a:rPr>
              <a:t>1</a:t>
            </a:r>
            <a:r>
              <a:rPr lang="en-US" sz="2400" dirty="0">
                <a:solidFill>
                  <a:srgbClr val="212121"/>
                </a:solidFill>
                <a:latin typeface="Roboto" pitchFamily="34" charset="0"/>
                <a:ea typeface="Roboto" pitchFamily="34" charset="-122"/>
              </a:rPr>
              <a:t> (nhỏ)
- Teacher </a:t>
            </a:r>
            <a:r>
              <a:rPr lang="en-US" sz="2400" dirty="0" err="1">
                <a:solidFill>
                  <a:srgbClr val="212121"/>
                </a:solidFill>
                <a:latin typeface="Roboto" pitchFamily="34" charset="0"/>
                <a:ea typeface="Roboto" pitchFamily="34" charset="-122"/>
              </a:rPr>
              <a:t>nhận</a:t>
            </a:r>
            <a:r>
              <a:rPr lang="en-US" sz="2400" dirty="0">
                <a:solidFill>
                  <a:srgbClr val="212121"/>
                </a:solidFill>
                <a:latin typeface="Roboto" pitchFamily="34" charset="0"/>
                <a:ea typeface="Roboto" pitchFamily="34" charset="-122"/>
              </a:rPr>
              <a:t> global crops x</a:t>
            </a:r>
            <a:r>
              <a:rPr lang="en-US" sz="2400" baseline="-25000" dirty="0">
                <a:solidFill>
                  <a:srgbClr val="212121"/>
                </a:solidFill>
                <a:latin typeface="Roboto" pitchFamily="34" charset="0"/>
                <a:ea typeface="Roboto" pitchFamily="34" charset="-122"/>
              </a:rPr>
              <a:t>2</a:t>
            </a:r>
            <a:r>
              <a:rPr lang="en-US" sz="2400" dirty="0">
                <a:solidFill>
                  <a:srgbClr val="212121"/>
                </a:solidFill>
                <a:latin typeface="Roboto" pitchFamily="34" charset="0"/>
                <a:ea typeface="Roboto" pitchFamily="34" charset="-122"/>
              </a:rPr>
              <a:t> (lớn)
- Cả 2 dùng cùng </a:t>
            </a:r>
            <a:r>
              <a:rPr lang="en-US" sz="2400" dirty="0" err="1">
                <a:solidFill>
                  <a:srgbClr val="212121"/>
                </a:solidFill>
                <a:latin typeface="Roboto" pitchFamily="34" charset="0"/>
                <a:ea typeface="Roboto" pitchFamily="34" charset="-122"/>
              </a:rPr>
              <a:t>kiến</a:t>
            </a:r>
            <a:r>
              <a:rPr lang="en-US" sz="2400" dirty="0">
                <a:solidFill>
                  <a:srgbClr val="212121"/>
                </a:solidFill>
                <a:latin typeface="Roboto" pitchFamily="34" charset="0"/>
                <a:ea typeface="Roboto" pitchFamily="34" charset="-122"/>
              </a:rPr>
              <a:t> </a:t>
            </a:r>
            <a:r>
              <a:rPr lang="en-US" sz="2400" dirty="0" err="1">
                <a:solidFill>
                  <a:srgbClr val="212121"/>
                </a:solidFill>
                <a:latin typeface="Roboto" pitchFamily="34" charset="0"/>
                <a:ea typeface="Roboto" pitchFamily="34" charset="-122"/>
              </a:rPr>
              <a:t>trúc</a:t>
            </a:r>
            <a:r>
              <a:rPr lang="en-US" sz="2400" dirty="0">
                <a:solidFill>
                  <a:srgbClr val="212121"/>
                </a:solidFill>
                <a:latin typeface="Roboto" pitchFamily="34" charset="0"/>
                <a:ea typeface="Roboto" pitchFamily="34" charset="-122"/>
              </a:rPr>
              <a:t> nhưng weights khác</a:t>
            </a:r>
          </a:p>
          <a:p>
            <a:r>
              <a:rPr lang="en-US" sz="2400" dirty="0">
                <a:solidFill>
                  <a:srgbClr val="212121"/>
                </a:solidFill>
                <a:latin typeface="Roboto" pitchFamily="34" charset="0"/>
                <a:ea typeface="Roboto" pitchFamily="34" charset="-122"/>
              </a:rPr>
              <a:t>- Student: dùng gradient descent </a:t>
            </a:r>
          </a:p>
          <a:p>
            <a:r>
              <a:rPr lang="en-US" sz="2400" dirty="0">
                <a:solidFill>
                  <a:srgbClr val="212121"/>
                </a:solidFill>
                <a:latin typeface="Roboto" pitchFamily="34" charset="0"/>
                <a:ea typeface="Roboto" pitchFamily="34" charset="-122"/>
              </a:rPr>
              <a:t>- Teacher: không dùng gradient descent, </a:t>
            </a:r>
            <a:r>
              <a:rPr lang="en-US" sz="2400" dirty="0" err="1">
                <a:solidFill>
                  <a:srgbClr val="212121"/>
                </a:solidFill>
                <a:latin typeface="Roboto" pitchFamily="34" charset="0"/>
                <a:ea typeface="Roboto" pitchFamily="34" charset="-122"/>
              </a:rPr>
              <a:t>cập</a:t>
            </a:r>
            <a:r>
              <a:rPr lang="en-US" sz="2400" dirty="0">
                <a:solidFill>
                  <a:srgbClr val="212121"/>
                </a:solidFill>
                <a:latin typeface="Roboto" pitchFamily="34" charset="0"/>
                <a:ea typeface="Roboto" pitchFamily="34" charset="-122"/>
              </a:rPr>
              <a:t> </a:t>
            </a:r>
            <a:r>
              <a:rPr lang="en-US" sz="2400" dirty="0" err="1">
                <a:solidFill>
                  <a:srgbClr val="212121"/>
                </a:solidFill>
                <a:latin typeface="Roboto" pitchFamily="34" charset="0"/>
                <a:ea typeface="Roboto" pitchFamily="34" charset="-122"/>
              </a:rPr>
              <a:t>nhật</a:t>
            </a:r>
            <a:r>
              <a:rPr lang="en-US" sz="2400" dirty="0">
                <a:solidFill>
                  <a:srgbClr val="212121"/>
                </a:solidFill>
                <a:latin typeface="Roboto" pitchFamily="34" charset="0"/>
                <a:ea typeface="Roboto" pitchFamily="34" charset="-122"/>
              </a:rPr>
              <a:t> từ student qua EMA</a:t>
            </a:r>
          </a:p>
        </p:txBody>
      </p:sp>
    </p:spTree>
    <p:extLst>
      <p:ext uri="{BB962C8B-B14F-4D97-AF65-F5344CB8AC3E}">
        <p14:creationId xmlns:p14="http://schemas.microsoft.com/office/powerpoint/2010/main" val="89661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Student</a:t>
            </a:r>
            <a:endParaRPr lang="en-US" sz="3200" dirty="0"/>
          </a:p>
        </p:txBody>
      </p:sp>
      <p:sp>
        <p:nvSpPr>
          <p:cNvPr id="4" name="Text 2"/>
          <p:cNvSpPr/>
          <p:nvPr/>
        </p:nvSpPr>
        <p:spPr>
          <a:xfrm>
            <a:off x="457200" y="1051560"/>
            <a:ext cx="1828800" cy="274320"/>
          </a:xfrm>
          <a:prstGeom prst="rect">
            <a:avLst/>
          </a:prstGeom>
          <a:noFill/>
          <a:ln/>
        </p:spPr>
        <p:txBody>
          <a:bodyPr wrap="square" rtlCol="0" anchor="ctr"/>
          <a:lstStyle/>
          <a:p>
            <a:pPr marL="0" indent="0" algn="ctr">
              <a:buNone/>
            </a:pPr>
            <a:r>
              <a:rPr lang="en-US" b="1" dirty="0">
                <a:solidFill>
                  <a:srgbClr val="424242"/>
                </a:solidFill>
                <a:latin typeface="Roboto" pitchFamily="34" charset="0"/>
                <a:ea typeface="Roboto" pitchFamily="34" charset="-122"/>
                <a:cs typeface="Roboto" pitchFamily="34" charset="-120"/>
              </a:rPr>
              <a:t>INPUT</a:t>
            </a:r>
            <a:endParaRPr lang="en-US" dirty="0"/>
          </a:p>
        </p:txBody>
      </p:sp>
      <p:sp>
        <p:nvSpPr>
          <p:cNvPr id="5" name="Text 3"/>
          <p:cNvSpPr/>
          <p:nvPr/>
        </p:nvSpPr>
        <p:spPr>
          <a:xfrm>
            <a:off x="2834640" y="1051560"/>
            <a:ext cx="1828800" cy="274320"/>
          </a:xfrm>
          <a:prstGeom prst="rect">
            <a:avLst/>
          </a:prstGeom>
          <a:noFill/>
          <a:ln/>
        </p:spPr>
        <p:txBody>
          <a:bodyPr wrap="square" rtlCol="0" anchor="ctr"/>
          <a:lstStyle/>
          <a:p>
            <a:pPr marL="0" indent="0" algn="ctr">
              <a:buNone/>
            </a:pPr>
            <a:r>
              <a:rPr lang="en-US" b="1" dirty="0">
                <a:solidFill>
                  <a:srgbClr val="1565C0"/>
                </a:solidFill>
                <a:latin typeface="Roboto" pitchFamily="34" charset="0"/>
                <a:ea typeface="Roboto" pitchFamily="34" charset="-122"/>
                <a:cs typeface="Roboto" pitchFamily="34" charset="-120"/>
              </a:rPr>
              <a:t>XỬ LÝ</a:t>
            </a:r>
            <a:endParaRPr lang="en-US" dirty="0"/>
          </a:p>
        </p:txBody>
      </p:sp>
      <p:sp>
        <p:nvSpPr>
          <p:cNvPr id="6" name="Text 4"/>
          <p:cNvSpPr/>
          <p:nvPr/>
        </p:nvSpPr>
        <p:spPr>
          <a:xfrm>
            <a:off x="5212080" y="1051560"/>
            <a:ext cx="1828800" cy="274320"/>
          </a:xfrm>
          <a:prstGeom prst="rect">
            <a:avLst/>
          </a:prstGeom>
          <a:noFill/>
          <a:ln/>
        </p:spPr>
        <p:txBody>
          <a:bodyPr wrap="square" rtlCol="0" anchor="ctr"/>
          <a:lstStyle/>
          <a:p>
            <a:pPr marL="0" indent="0" algn="ctr">
              <a:buNone/>
            </a:pPr>
            <a:r>
              <a:rPr lang="en-US" b="1" dirty="0">
                <a:solidFill>
                  <a:srgbClr val="424242"/>
                </a:solidFill>
                <a:latin typeface="Roboto" pitchFamily="34" charset="0"/>
                <a:ea typeface="Roboto" pitchFamily="34" charset="-122"/>
                <a:cs typeface="Roboto" pitchFamily="34" charset="-120"/>
              </a:rPr>
              <a:t>OUTPUT</a:t>
            </a:r>
            <a:endParaRPr lang="en-US" dirty="0"/>
          </a:p>
        </p:txBody>
      </p:sp>
      <p:sp>
        <p:nvSpPr>
          <p:cNvPr id="7" name="Text 5"/>
          <p:cNvSpPr/>
          <p:nvPr/>
        </p:nvSpPr>
        <p:spPr>
          <a:xfrm>
            <a:off x="7315200" y="1051560"/>
            <a:ext cx="5029200" cy="274320"/>
          </a:xfrm>
          <a:prstGeom prst="rect">
            <a:avLst/>
          </a:prstGeom>
          <a:noFill/>
          <a:ln/>
        </p:spPr>
        <p:txBody>
          <a:bodyPr wrap="square" rtlCol="0" anchor="ctr"/>
          <a:lstStyle/>
          <a:p>
            <a:pPr marL="0" indent="0" algn="l">
              <a:buNone/>
            </a:pPr>
            <a:r>
              <a:rPr lang="en-US" b="1" dirty="0">
                <a:solidFill>
                  <a:srgbClr val="757575"/>
                </a:solidFill>
                <a:latin typeface="Roboto" pitchFamily="34" charset="0"/>
                <a:ea typeface="Roboto" pitchFamily="34" charset="-122"/>
                <a:cs typeface="Roboto" pitchFamily="34" charset="-120"/>
              </a:rPr>
              <a:t>CHI TIẾT</a:t>
            </a:r>
            <a:endParaRPr lang="en-US" dirty="0"/>
          </a:p>
        </p:txBody>
      </p:sp>
      <p:sp>
        <p:nvSpPr>
          <p:cNvPr id="8" name="Shape 6"/>
          <p:cNvSpPr/>
          <p:nvPr/>
        </p:nvSpPr>
        <p:spPr>
          <a:xfrm>
            <a:off x="457200" y="1371600"/>
            <a:ext cx="1828800" cy="960120"/>
          </a:xfrm>
          <a:prstGeom prst="rect">
            <a:avLst/>
          </a:prstGeom>
          <a:solidFill>
            <a:srgbClr val="FFF8E1"/>
          </a:solidFill>
          <a:ln w="12700">
            <a:solidFill>
              <a:srgbClr val="BDBDBD"/>
            </a:solidFill>
            <a:prstDash val="solid"/>
          </a:ln>
        </p:spPr>
      </p:sp>
      <p:sp>
        <p:nvSpPr>
          <p:cNvPr id="9" name="Text 7"/>
          <p:cNvSpPr/>
          <p:nvPr/>
        </p:nvSpPr>
        <p:spPr>
          <a:xfrm>
            <a:off x="457200" y="137160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RGB image</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96×96×3</a:t>
            </a:r>
            <a:endParaRPr lang="en-US" dirty="0"/>
          </a:p>
        </p:txBody>
      </p:sp>
      <p:sp>
        <p:nvSpPr>
          <p:cNvPr id="10" name="Text 8"/>
          <p:cNvSpPr/>
          <p:nvPr/>
        </p:nvSpPr>
        <p:spPr>
          <a:xfrm>
            <a:off x="2286000" y="137160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11" name="Shape 9"/>
          <p:cNvSpPr/>
          <p:nvPr/>
        </p:nvSpPr>
        <p:spPr>
          <a:xfrm>
            <a:off x="2834640" y="1371600"/>
            <a:ext cx="1828800" cy="960120"/>
          </a:xfrm>
          <a:prstGeom prst="rect">
            <a:avLst/>
          </a:prstGeom>
          <a:solidFill>
            <a:srgbClr val="1565C0"/>
          </a:solidFill>
          <a:ln/>
        </p:spPr>
      </p:sp>
      <p:sp>
        <p:nvSpPr>
          <p:cNvPr id="12" name="Text 10"/>
          <p:cNvSpPr/>
          <p:nvPr/>
        </p:nvSpPr>
        <p:spPr>
          <a:xfrm>
            <a:off x="2834640" y="1371600"/>
            <a:ext cx="1828800" cy="960120"/>
          </a:xfrm>
          <a:prstGeom prst="rect">
            <a:avLst/>
          </a:prstGeom>
          <a:noFill/>
          <a:ln/>
        </p:spPr>
        <p:txBody>
          <a:bodyPr wrap="square" rtlCol="0" anchor="ctr"/>
          <a:lstStyle/>
          <a:p>
            <a:pPr marL="0" indent="0" algn="ctr">
              <a:buNone/>
            </a:pPr>
            <a:r>
              <a:rPr lang="en-US" sz="2000" b="1" dirty="0">
                <a:solidFill>
                  <a:srgbClr val="FFFFFF"/>
                </a:solidFill>
                <a:latin typeface="Roboto" pitchFamily="34" charset="0"/>
                <a:ea typeface="Roboto" pitchFamily="34" charset="-122"/>
                <a:cs typeface="Roboto" pitchFamily="34" charset="-120"/>
              </a:rPr>
              <a:t>Patch</a:t>
            </a:r>
            <a:endParaRPr lang="en-US" sz="2000" dirty="0"/>
          </a:p>
          <a:p>
            <a:pPr marL="0" indent="0" algn="ctr">
              <a:buNone/>
            </a:pPr>
            <a:r>
              <a:rPr lang="en-US" sz="2000" b="1" dirty="0">
                <a:solidFill>
                  <a:srgbClr val="FFFFFF"/>
                </a:solidFill>
                <a:latin typeface="Roboto" pitchFamily="34" charset="0"/>
                <a:ea typeface="Roboto" pitchFamily="34" charset="-122"/>
                <a:cs typeface="Roboto" pitchFamily="34" charset="-120"/>
              </a:rPr>
              <a:t>Embedding</a:t>
            </a:r>
            <a:endParaRPr lang="en-US" sz="2000" dirty="0"/>
          </a:p>
        </p:txBody>
      </p:sp>
      <p:sp>
        <p:nvSpPr>
          <p:cNvPr id="13" name="Text 11"/>
          <p:cNvSpPr/>
          <p:nvPr/>
        </p:nvSpPr>
        <p:spPr>
          <a:xfrm>
            <a:off x="4663440" y="137160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14" name="Shape 12"/>
          <p:cNvSpPr/>
          <p:nvPr/>
        </p:nvSpPr>
        <p:spPr>
          <a:xfrm>
            <a:off x="5212080" y="1371600"/>
            <a:ext cx="1828800" cy="960120"/>
          </a:xfrm>
          <a:prstGeom prst="rect">
            <a:avLst/>
          </a:prstGeom>
          <a:solidFill>
            <a:srgbClr val="FFF8E1"/>
          </a:solidFill>
          <a:ln w="12700">
            <a:solidFill>
              <a:srgbClr val="BDBDBD"/>
            </a:solidFill>
            <a:prstDash val="solid"/>
          </a:ln>
        </p:spPr>
      </p:sp>
      <p:sp>
        <p:nvSpPr>
          <p:cNvPr id="15" name="Text 13"/>
          <p:cNvSpPr/>
          <p:nvPr/>
        </p:nvSpPr>
        <p:spPr>
          <a:xfrm>
            <a:off x="5212080" y="137160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36 vectors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(768-dim each)</a:t>
            </a:r>
            <a:endParaRPr lang="en-US" dirty="0"/>
          </a:p>
        </p:txBody>
      </p:sp>
      <p:sp>
        <p:nvSpPr>
          <p:cNvPr id="16" name="Text 14"/>
          <p:cNvSpPr/>
          <p:nvPr/>
        </p:nvSpPr>
        <p:spPr>
          <a:xfrm>
            <a:off x="7315200" y="1371600"/>
            <a:ext cx="5029200" cy="960120"/>
          </a:xfrm>
          <a:prstGeom prst="rect">
            <a:avLst/>
          </a:prstGeom>
          <a:noFill/>
          <a:ln/>
        </p:spPr>
        <p:txBody>
          <a:bodyPr wrap="square" rtlCol="0" anchor="ctr"/>
          <a:lstStyle/>
          <a:p>
            <a:pPr marL="0" indent="0">
              <a:buNone/>
            </a:pPr>
            <a:r>
              <a:rPr lang="en-US" sz="2000" dirty="0">
                <a:solidFill>
                  <a:srgbClr val="757575"/>
                </a:solidFill>
                <a:latin typeface="Roboto" pitchFamily="34" charset="0"/>
                <a:ea typeface="Roboto" pitchFamily="34" charset="-122"/>
                <a:cs typeface="Roboto" pitchFamily="34" charset="-120"/>
              </a:rPr>
              <a:t>Chia 6×6 patches → Linear projection → Add positional embedding</a:t>
            </a:r>
            <a:endParaRPr lang="en-US" sz="2000" dirty="0"/>
          </a:p>
        </p:txBody>
      </p:sp>
      <p:sp>
        <p:nvSpPr>
          <p:cNvPr id="17" name="Shape 15"/>
          <p:cNvSpPr/>
          <p:nvPr/>
        </p:nvSpPr>
        <p:spPr>
          <a:xfrm>
            <a:off x="457200" y="2423160"/>
            <a:ext cx="1828800" cy="960120"/>
          </a:xfrm>
          <a:prstGeom prst="rect">
            <a:avLst/>
          </a:prstGeom>
          <a:solidFill>
            <a:srgbClr val="FFF8E1"/>
          </a:solidFill>
          <a:ln w="12700">
            <a:solidFill>
              <a:srgbClr val="BDBDBD"/>
            </a:solidFill>
            <a:prstDash val="solid"/>
          </a:ln>
        </p:spPr>
      </p:sp>
      <p:sp>
        <p:nvSpPr>
          <p:cNvPr id="18" name="Text 16"/>
          <p:cNvSpPr/>
          <p:nvPr/>
        </p:nvSpPr>
        <p:spPr>
          <a:xfrm>
            <a:off x="457200" y="242316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36 vectors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 CLS token</a:t>
            </a:r>
            <a:endParaRPr lang="en-US" dirty="0"/>
          </a:p>
        </p:txBody>
      </p:sp>
      <p:sp>
        <p:nvSpPr>
          <p:cNvPr id="19" name="Text 17"/>
          <p:cNvSpPr/>
          <p:nvPr/>
        </p:nvSpPr>
        <p:spPr>
          <a:xfrm>
            <a:off x="2286000" y="242316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20" name="Shape 18"/>
          <p:cNvSpPr/>
          <p:nvPr/>
        </p:nvSpPr>
        <p:spPr>
          <a:xfrm>
            <a:off x="2834640" y="2423160"/>
            <a:ext cx="1828800" cy="960120"/>
          </a:xfrm>
          <a:prstGeom prst="rect">
            <a:avLst/>
          </a:prstGeom>
          <a:solidFill>
            <a:srgbClr val="1565C0"/>
          </a:solidFill>
          <a:ln/>
        </p:spPr>
      </p:sp>
      <p:sp>
        <p:nvSpPr>
          <p:cNvPr id="21" name="Text 19"/>
          <p:cNvSpPr/>
          <p:nvPr/>
        </p:nvSpPr>
        <p:spPr>
          <a:xfrm>
            <a:off x="2834640" y="2423160"/>
            <a:ext cx="1828800" cy="960120"/>
          </a:xfrm>
          <a:prstGeom prst="rect">
            <a:avLst/>
          </a:prstGeom>
          <a:noFill/>
          <a:ln/>
        </p:spPr>
        <p:txBody>
          <a:bodyPr wrap="square" rtlCol="0" anchor="ctr"/>
          <a:lstStyle/>
          <a:p>
            <a:pPr marL="0" indent="0" algn="ctr">
              <a:buNone/>
            </a:pPr>
            <a:r>
              <a:rPr lang="en-US" sz="2000" b="1" dirty="0">
                <a:solidFill>
                  <a:srgbClr val="FFFFFF"/>
                </a:solidFill>
                <a:latin typeface="Roboto" pitchFamily="34" charset="0"/>
                <a:ea typeface="Roboto" pitchFamily="34" charset="-122"/>
                <a:cs typeface="Roboto" pitchFamily="34" charset="-120"/>
              </a:rPr>
              <a:t>ViT</a:t>
            </a:r>
            <a:endParaRPr lang="en-US" sz="2000" dirty="0"/>
          </a:p>
          <a:p>
            <a:pPr marL="0" indent="0" algn="ctr">
              <a:buNone/>
            </a:pPr>
            <a:r>
              <a:rPr lang="en-US" sz="2000" b="1" dirty="0">
                <a:solidFill>
                  <a:srgbClr val="FFFFFF"/>
                </a:solidFill>
                <a:latin typeface="Roboto" pitchFamily="34" charset="0"/>
                <a:ea typeface="Roboto" pitchFamily="34" charset="-122"/>
                <a:cs typeface="Roboto" pitchFamily="34" charset="-120"/>
              </a:rPr>
              <a:t>Backbone</a:t>
            </a:r>
            <a:endParaRPr lang="en-US" sz="2000" dirty="0"/>
          </a:p>
        </p:txBody>
      </p:sp>
      <p:sp>
        <p:nvSpPr>
          <p:cNvPr id="22" name="Text 20"/>
          <p:cNvSpPr/>
          <p:nvPr/>
        </p:nvSpPr>
        <p:spPr>
          <a:xfrm>
            <a:off x="4663440" y="242316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23" name="Shape 21"/>
          <p:cNvSpPr/>
          <p:nvPr/>
        </p:nvSpPr>
        <p:spPr>
          <a:xfrm>
            <a:off x="5212080" y="2423160"/>
            <a:ext cx="1828800" cy="960120"/>
          </a:xfrm>
          <a:prstGeom prst="rect">
            <a:avLst/>
          </a:prstGeom>
          <a:solidFill>
            <a:srgbClr val="FFF8E1"/>
          </a:solidFill>
          <a:ln w="12700">
            <a:solidFill>
              <a:srgbClr val="BDBDBD"/>
            </a:solidFill>
            <a:prstDash val="solid"/>
          </a:ln>
        </p:spPr>
      </p:sp>
      <p:sp>
        <p:nvSpPr>
          <p:cNvPr id="24" name="Text 22"/>
          <p:cNvSpPr/>
          <p:nvPr/>
        </p:nvSpPr>
        <p:spPr>
          <a:xfrm>
            <a:off x="5212080" y="242316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CLS token</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(768-dim)</a:t>
            </a:r>
            <a:endParaRPr lang="en-US" dirty="0"/>
          </a:p>
        </p:txBody>
      </p:sp>
      <p:sp>
        <p:nvSpPr>
          <p:cNvPr id="25" name="Text 23"/>
          <p:cNvSpPr/>
          <p:nvPr/>
        </p:nvSpPr>
        <p:spPr>
          <a:xfrm>
            <a:off x="7315200" y="2423160"/>
            <a:ext cx="5029200" cy="960120"/>
          </a:xfrm>
          <a:prstGeom prst="rect">
            <a:avLst/>
          </a:prstGeom>
          <a:noFill/>
          <a:ln/>
        </p:spPr>
        <p:txBody>
          <a:bodyPr wrap="square" rtlCol="0" anchor="ctr"/>
          <a:lstStyle/>
          <a:p>
            <a:pPr marL="0" indent="0">
              <a:buNone/>
            </a:pPr>
            <a:r>
              <a:rPr lang="en-US" sz="2000" dirty="0">
                <a:solidFill>
                  <a:srgbClr val="757575"/>
                </a:solidFill>
                <a:latin typeface="Roboto" pitchFamily="34" charset="0"/>
                <a:ea typeface="Roboto" pitchFamily="34" charset="-122"/>
                <a:cs typeface="Roboto" pitchFamily="34" charset="-120"/>
              </a:rPr>
              <a:t>Self-attention </a:t>
            </a:r>
            <a:endParaRPr lang="en-US" sz="2000" dirty="0"/>
          </a:p>
        </p:txBody>
      </p:sp>
      <p:sp>
        <p:nvSpPr>
          <p:cNvPr id="26" name="Shape 24"/>
          <p:cNvSpPr/>
          <p:nvPr/>
        </p:nvSpPr>
        <p:spPr>
          <a:xfrm>
            <a:off x="457200" y="3474720"/>
            <a:ext cx="1828800" cy="960120"/>
          </a:xfrm>
          <a:prstGeom prst="rect">
            <a:avLst/>
          </a:prstGeom>
          <a:solidFill>
            <a:srgbClr val="FFF8E1"/>
          </a:solidFill>
          <a:ln w="12700">
            <a:solidFill>
              <a:srgbClr val="BDBDBD"/>
            </a:solidFill>
            <a:prstDash val="solid"/>
          </a:ln>
        </p:spPr>
      </p:sp>
      <p:sp>
        <p:nvSpPr>
          <p:cNvPr id="27" name="Text 25"/>
          <p:cNvSpPr/>
          <p:nvPr/>
        </p:nvSpPr>
        <p:spPr>
          <a:xfrm>
            <a:off x="457200" y="347472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CLS token</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(768-dim)</a:t>
            </a:r>
            <a:endParaRPr lang="en-US" dirty="0"/>
          </a:p>
        </p:txBody>
      </p:sp>
      <p:sp>
        <p:nvSpPr>
          <p:cNvPr id="28" name="Text 26"/>
          <p:cNvSpPr/>
          <p:nvPr/>
        </p:nvSpPr>
        <p:spPr>
          <a:xfrm>
            <a:off x="2286000" y="347472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29" name="Shape 27"/>
          <p:cNvSpPr/>
          <p:nvPr/>
        </p:nvSpPr>
        <p:spPr>
          <a:xfrm>
            <a:off x="2834640" y="3474720"/>
            <a:ext cx="1828800" cy="960120"/>
          </a:xfrm>
          <a:prstGeom prst="rect">
            <a:avLst/>
          </a:prstGeom>
          <a:solidFill>
            <a:srgbClr val="1565C0"/>
          </a:solidFill>
          <a:ln/>
        </p:spPr>
      </p:sp>
      <p:sp>
        <p:nvSpPr>
          <p:cNvPr id="30" name="Text 28"/>
          <p:cNvSpPr/>
          <p:nvPr/>
        </p:nvSpPr>
        <p:spPr>
          <a:xfrm>
            <a:off x="2834640" y="3474720"/>
            <a:ext cx="1828800" cy="960120"/>
          </a:xfrm>
          <a:prstGeom prst="rect">
            <a:avLst/>
          </a:prstGeom>
          <a:noFill/>
          <a:ln/>
        </p:spPr>
        <p:txBody>
          <a:bodyPr wrap="square" rtlCol="0" anchor="ctr"/>
          <a:lstStyle/>
          <a:p>
            <a:pPr marL="0" indent="0" algn="ctr">
              <a:buNone/>
            </a:pPr>
            <a:r>
              <a:rPr lang="en-US" sz="2000" b="1" dirty="0">
                <a:solidFill>
                  <a:srgbClr val="FFFFFF"/>
                </a:solidFill>
                <a:latin typeface="Roboto" pitchFamily="34" charset="0"/>
                <a:ea typeface="Roboto" pitchFamily="34" charset="-122"/>
                <a:cs typeface="Roboto" pitchFamily="34" charset="-120"/>
              </a:rPr>
              <a:t>MLP</a:t>
            </a:r>
            <a:endParaRPr lang="en-US" sz="2000" dirty="0"/>
          </a:p>
          <a:p>
            <a:pPr marL="0" indent="0" algn="ctr">
              <a:buNone/>
            </a:pPr>
            <a:r>
              <a:rPr lang="en-US" sz="2000" b="1" dirty="0">
                <a:solidFill>
                  <a:srgbClr val="FFFFFF"/>
                </a:solidFill>
                <a:latin typeface="Roboto" pitchFamily="34" charset="0"/>
                <a:ea typeface="Roboto" pitchFamily="34" charset="-122"/>
                <a:cs typeface="Roboto" pitchFamily="34" charset="-120"/>
              </a:rPr>
              <a:t>Head</a:t>
            </a:r>
            <a:endParaRPr lang="en-US" sz="2000" dirty="0"/>
          </a:p>
        </p:txBody>
      </p:sp>
      <p:sp>
        <p:nvSpPr>
          <p:cNvPr id="31" name="Text 29"/>
          <p:cNvSpPr/>
          <p:nvPr/>
        </p:nvSpPr>
        <p:spPr>
          <a:xfrm>
            <a:off x="4663440" y="347472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32" name="Shape 30"/>
          <p:cNvSpPr/>
          <p:nvPr/>
        </p:nvSpPr>
        <p:spPr>
          <a:xfrm>
            <a:off x="5212080" y="3474720"/>
            <a:ext cx="1828800" cy="960120"/>
          </a:xfrm>
          <a:prstGeom prst="rect">
            <a:avLst/>
          </a:prstGeom>
          <a:solidFill>
            <a:srgbClr val="FFF8E1"/>
          </a:solidFill>
          <a:ln w="12700">
            <a:solidFill>
              <a:srgbClr val="BDBDBD"/>
            </a:solidFill>
            <a:prstDash val="solid"/>
          </a:ln>
        </p:spPr>
      </p:sp>
      <p:sp>
        <p:nvSpPr>
          <p:cNvPr id="33" name="Text 31"/>
          <p:cNvSpPr/>
          <p:nvPr/>
        </p:nvSpPr>
        <p:spPr>
          <a:xfrm>
            <a:off x="5212080" y="347472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Logits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(65536-dim)</a:t>
            </a:r>
            <a:endParaRPr lang="en-US" dirty="0"/>
          </a:p>
        </p:txBody>
      </p:sp>
      <p:sp>
        <p:nvSpPr>
          <p:cNvPr id="34" name="Text 32"/>
          <p:cNvSpPr/>
          <p:nvPr/>
        </p:nvSpPr>
        <p:spPr>
          <a:xfrm>
            <a:off x="7315200" y="3474720"/>
            <a:ext cx="5029200" cy="960120"/>
          </a:xfrm>
          <a:prstGeom prst="rect">
            <a:avLst/>
          </a:prstGeom>
          <a:noFill/>
          <a:ln/>
        </p:spPr>
        <p:txBody>
          <a:bodyPr wrap="square" rtlCol="0" anchor="ctr"/>
          <a:lstStyle/>
          <a:p>
            <a:pPr marL="0" indent="0">
              <a:buNone/>
            </a:pPr>
            <a:r>
              <a:rPr lang="en-US" sz="2000" dirty="0">
                <a:solidFill>
                  <a:srgbClr val="757575"/>
                </a:solidFill>
                <a:latin typeface="Roboto" pitchFamily="34" charset="0"/>
                <a:ea typeface="Roboto" pitchFamily="34" charset="-122"/>
                <a:cs typeface="Roboto" pitchFamily="34" charset="-120"/>
              </a:rPr>
              <a:t>768 → 2048 → 2048 → 65536</a:t>
            </a:r>
            <a:endParaRPr lang="en-US" sz="2000" dirty="0"/>
          </a:p>
        </p:txBody>
      </p:sp>
      <p:sp>
        <p:nvSpPr>
          <p:cNvPr id="35" name="Shape 33"/>
          <p:cNvSpPr/>
          <p:nvPr/>
        </p:nvSpPr>
        <p:spPr>
          <a:xfrm>
            <a:off x="457200" y="4526280"/>
            <a:ext cx="1828800" cy="960120"/>
          </a:xfrm>
          <a:prstGeom prst="rect">
            <a:avLst/>
          </a:prstGeom>
          <a:solidFill>
            <a:srgbClr val="FFF8E1"/>
          </a:solidFill>
          <a:ln w="12700">
            <a:solidFill>
              <a:srgbClr val="BDBDBD"/>
            </a:solidFill>
            <a:prstDash val="solid"/>
          </a:ln>
        </p:spPr>
      </p:sp>
      <p:sp>
        <p:nvSpPr>
          <p:cNvPr id="36" name="Text 34"/>
          <p:cNvSpPr/>
          <p:nvPr/>
        </p:nvSpPr>
        <p:spPr>
          <a:xfrm>
            <a:off x="457200" y="4526280"/>
            <a:ext cx="1828800" cy="96012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Logits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(65536-dim)</a:t>
            </a:r>
            <a:endParaRPr lang="en-US" dirty="0"/>
          </a:p>
        </p:txBody>
      </p:sp>
      <p:sp>
        <p:nvSpPr>
          <p:cNvPr id="37" name="Text 35"/>
          <p:cNvSpPr/>
          <p:nvPr/>
        </p:nvSpPr>
        <p:spPr>
          <a:xfrm>
            <a:off x="2286000" y="452628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38" name="Shape 36"/>
          <p:cNvSpPr/>
          <p:nvPr/>
        </p:nvSpPr>
        <p:spPr>
          <a:xfrm>
            <a:off x="2834640" y="4526280"/>
            <a:ext cx="1828800" cy="960120"/>
          </a:xfrm>
          <a:prstGeom prst="rect">
            <a:avLst/>
          </a:prstGeom>
          <a:solidFill>
            <a:srgbClr val="1565C0"/>
          </a:solidFill>
          <a:ln/>
        </p:spPr>
      </p:sp>
      <p:sp>
        <p:nvSpPr>
          <p:cNvPr id="39" name="Text 37"/>
          <p:cNvSpPr/>
          <p:nvPr/>
        </p:nvSpPr>
        <p:spPr>
          <a:xfrm>
            <a:off x="2834640" y="4526280"/>
            <a:ext cx="1828800" cy="960120"/>
          </a:xfrm>
          <a:prstGeom prst="rect">
            <a:avLst/>
          </a:prstGeom>
          <a:noFill/>
          <a:ln/>
        </p:spPr>
        <p:txBody>
          <a:bodyPr wrap="square" rtlCol="0" anchor="ctr"/>
          <a:lstStyle/>
          <a:p>
            <a:pPr marL="0" indent="0" algn="ctr">
              <a:buNone/>
            </a:pPr>
            <a:r>
              <a:rPr lang="en-US" sz="2000" b="1" dirty="0">
                <a:solidFill>
                  <a:srgbClr val="FFFFFF"/>
                </a:solidFill>
                <a:latin typeface="Roboto" pitchFamily="34" charset="0"/>
                <a:ea typeface="Roboto" pitchFamily="34" charset="-122"/>
                <a:cs typeface="Roboto" pitchFamily="34" charset="-120"/>
              </a:rPr>
              <a:t>Softmax</a:t>
            </a:r>
            <a:endParaRPr lang="en-US" sz="2000" dirty="0"/>
          </a:p>
          <a:p>
            <a:pPr marL="0" indent="0" algn="ctr">
              <a:buNone/>
            </a:pPr>
            <a:r>
              <a:rPr lang="en-US" sz="2000" b="1" dirty="0">
                <a:solidFill>
                  <a:srgbClr val="FFFFFF"/>
                </a:solidFill>
                <a:latin typeface="Roboto" pitchFamily="34" charset="0"/>
                <a:ea typeface="Roboto" pitchFamily="34" charset="-122"/>
                <a:cs typeface="Roboto" pitchFamily="34" charset="-120"/>
              </a:rPr>
              <a:t>(τ=0.1)</a:t>
            </a:r>
            <a:endParaRPr lang="en-US" sz="2000" dirty="0"/>
          </a:p>
        </p:txBody>
      </p:sp>
      <p:sp>
        <p:nvSpPr>
          <p:cNvPr id="40" name="Text 38"/>
          <p:cNvSpPr/>
          <p:nvPr/>
        </p:nvSpPr>
        <p:spPr>
          <a:xfrm>
            <a:off x="4663440" y="4526280"/>
            <a:ext cx="548640" cy="960120"/>
          </a:xfrm>
          <a:prstGeom prst="rect">
            <a:avLst/>
          </a:prstGeom>
          <a:noFill/>
          <a:ln/>
        </p:spPr>
        <p:txBody>
          <a:bodyPr wrap="square" rtlCol="0" anchor="ctr"/>
          <a:lstStyle/>
          <a:p>
            <a:pPr marL="0" indent="0" algn="ctr">
              <a:buNone/>
            </a:pPr>
            <a:r>
              <a:rPr lang="en-US" sz="3600" dirty="0">
                <a:solidFill>
                  <a:srgbClr val="BDBDBD"/>
                </a:solidFill>
                <a:latin typeface="Roboto" pitchFamily="34" charset="0"/>
                <a:ea typeface="Roboto" pitchFamily="34" charset="-122"/>
                <a:cs typeface="Roboto" pitchFamily="34" charset="-120"/>
              </a:rPr>
              <a:t>→</a:t>
            </a:r>
            <a:endParaRPr lang="en-US" sz="3600" dirty="0"/>
          </a:p>
        </p:txBody>
      </p:sp>
      <p:sp>
        <p:nvSpPr>
          <p:cNvPr id="41" name="Shape 39"/>
          <p:cNvSpPr/>
          <p:nvPr/>
        </p:nvSpPr>
        <p:spPr>
          <a:xfrm>
            <a:off x="5212080" y="4526280"/>
            <a:ext cx="1828800" cy="960120"/>
          </a:xfrm>
          <a:prstGeom prst="rect">
            <a:avLst/>
          </a:prstGeom>
          <a:solidFill>
            <a:srgbClr val="FFF8E1"/>
          </a:solidFill>
          <a:ln w="12700">
            <a:solidFill>
              <a:srgbClr val="BDBDBD"/>
            </a:solidFill>
            <a:prstDash val="solid"/>
          </a:ln>
        </p:spPr>
      </p:sp>
      <p:sp>
        <p:nvSpPr>
          <p:cNvPr id="42" name="Text 40"/>
          <p:cNvSpPr/>
          <p:nvPr/>
        </p:nvSpPr>
        <p:spPr>
          <a:xfrm>
            <a:off x="5212080" y="4526280"/>
            <a:ext cx="1828800" cy="960120"/>
          </a:xfrm>
          <a:prstGeom prst="rect">
            <a:avLst/>
          </a:prstGeom>
          <a:noFill/>
          <a:ln/>
        </p:spPr>
        <p:txBody>
          <a:bodyPr wrap="square" rtlCol="0" anchor="ctr"/>
          <a:lstStyle/>
          <a:p>
            <a:pPr algn="ctr"/>
            <a:r>
              <a:rPr lang="en-US" dirty="0">
                <a:solidFill>
                  <a:srgbClr val="212121"/>
                </a:solidFill>
                <a:latin typeface="Roboto" pitchFamily="34" charset="0"/>
                <a:ea typeface="Roboto" pitchFamily="34" charset="-122"/>
                <a:cs typeface="Roboto" pitchFamily="34" charset="-120"/>
              </a:rPr>
              <a:t>P</a:t>
            </a:r>
            <a:r>
              <a:rPr lang="en-US" baseline="-25000" dirty="0">
                <a:solidFill>
                  <a:srgbClr val="212121"/>
                </a:solidFill>
                <a:latin typeface="Roboto" pitchFamily="34" charset="0"/>
                <a:ea typeface="Roboto" pitchFamily="34" charset="-122"/>
                <a:cs typeface="Roboto" pitchFamily="34" charset="-120"/>
              </a:rPr>
              <a:t>1</a:t>
            </a:r>
            <a:br>
              <a:rPr lang="en-US" baseline="-25000" dirty="0">
                <a:solidFill>
                  <a:srgbClr val="212121"/>
                </a:solidFill>
                <a:latin typeface="Roboto" pitchFamily="34" charset="0"/>
                <a:ea typeface="Roboto" pitchFamily="34" charset="-122"/>
                <a:cs typeface="Roboto" pitchFamily="34" charset="-120"/>
              </a:rPr>
            </a:br>
            <a:r>
              <a:rPr lang="en-US" dirty="0">
                <a:solidFill>
                  <a:srgbClr val="212121"/>
                </a:solidFill>
                <a:latin typeface="Roboto" pitchFamily="34" charset="0"/>
                <a:ea typeface="Roboto" pitchFamily="34" charset="-122"/>
                <a:cs typeface="Roboto" pitchFamily="34" charset="-120"/>
              </a:rPr>
              <a:t>(xác suất)</a:t>
            </a:r>
            <a:endParaRPr lang="en-US" dirty="0"/>
          </a:p>
        </p:txBody>
      </p:sp>
      <p:sp>
        <p:nvSpPr>
          <p:cNvPr id="43" name="Text 41"/>
          <p:cNvSpPr/>
          <p:nvPr/>
        </p:nvSpPr>
        <p:spPr>
          <a:xfrm>
            <a:off x="7315200" y="4526280"/>
            <a:ext cx="5029200" cy="960120"/>
          </a:xfrm>
          <a:prstGeom prst="rect">
            <a:avLst/>
          </a:prstGeom>
          <a:noFill/>
          <a:ln/>
        </p:spPr>
        <p:txBody>
          <a:bodyPr wrap="square" rtlCol="0" anchor="ctr"/>
          <a:lstStyle/>
          <a:p>
            <a:pPr marL="0" indent="0">
              <a:buNone/>
            </a:pPr>
            <a:r>
              <a:rPr lang="en-US" sz="2000" dirty="0">
                <a:solidFill>
                  <a:srgbClr val="757575"/>
                </a:solidFill>
                <a:latin typeface="Roboto" pitchFamily="34" charset="0"/>
                <a:ea typeface="Roboto" pitchFamily="34" charset="-122"/>
                <a:cs typeface="Roboto" pitchFamily="34" charset="-120"/>
              </a:rPr>
              <a:t>Chuyển scores thành probability distribution</a:t>
            </a:r>
            <a:endParaRPr lang="en-US" sz="2000" dirty="0"/>
          </a:p>
        </p:txBody>
      </p:sp>
      <p:sp>
        <p:nvSpPr>
          <p:cNvPr id="47" name="Shape 45"/>
          <p:cNvSpPr/>
          <p:nvPr/>
        </p:nvSpPr>
        <p:spPr>
          <a:xfrm>
            <a:off x="457200" y="6537960"/>
            <a:ext cx="2209190" cy="228600"/>
          </a:xfrm>
          <a:prstGeom prst="rect">
            <a:avLst/>
          </a:prstGeom>
          <a:solidFill>
            <a:srgbClr val="BDBDBD"/>
          </a:solidFill>
          <a:ln/>
        </p:spPr>
      </p:sp>
      <p:sp>
        <p:nvSpPr>
          <p:cNvPr id="48" name="Text 46"/>
          <p:cNvSpPr/>
          <p:nvPr/>
        </p:nvSpPr>
        <p:spPr>
          <a:xfrm>
            <a:off x="457200" y="6537960"/>
            <a:ext cx="2209190" cy="228600"/>
          </a:xfrm>
          <a:prstGeom prst="rect">
            <a:avLst/>
          </a:prstGeom>
          <a:noFill/>
          <a:ln/>
        </p:spPr>
        <p:txBody>
          <a:bodyPr wrap="square" rtlCol="0" anchor="ctr"/>
          <a:lstStyle/>
          <a:p>
            <a:pPr marL="0" indent="0" algn="ctr">
              <a:buNone/>
            </a:pPr>
            <a:r>
              <a:rPr lang="en-US" sz="1400" dirty="0">
                <a:solidFill>
                  <a:srgbClr val="424242"/>
                </a:solidFill>
                <a:latin typeface="Roboto" pitchFamily="34" charset="0"/>
                <a:ea typeface="Roboto" pitchFamily="34" charset="-122"/>
                <a:cs typeface="Roboto" pitchFamily="34" charset="-120"/>
              </a:rPr>
              <a:t>Hook</a:t>
            </a:r>
            <a:endParaRPr lang="en-US" sz="1400" dirty="0"/>
          </a:p>
        </p:txBody>
      </p:sp>
      <p:sp>
        <p:nvSpPr>
          <p:cNvPr id="49" name="Shape 47"/>
          <p:cNvSpPr/>
          <p:nvPr/>
        </p:nvSpPr>
        <p:spPr>
          <a:xfrm>
            <a:off x="2712110" y="6537960"/>
            <a:ext cx="2209190" cy="228600"/>
          </a:xfrm>
          <a:prstGeom prst="rect">
            <a:avLst/>
          </a:prstGeom>
          <a:solidFill>
            <a:srgbClr val="C62828"/>
          </a:solidFill>
          <a:ln/>
        </p:spPr>
      </p:sp>
      <p:sp>
        <p:nvSpPr>
          <p:cNvPr id="50" name="Text 48"/>
          <p:cNvSpPr/>
          <p:nvPr/>
        </p:nvSpPr>
        <p:spPr>
          <a:xfrm>
            <a:off x="2712110" y="6537960"/>
            <a:ext cx="2209190" cy="228600"/>
          </a:xfrm>
          <a:prstGeom prst="rect">
            <a:avLst/>
          </a:prstGeom>
          <a:noFill/>
          <a:ln/>
        </p:spPr>
        <p:txBody>
          <a:bodyPr wrap="square" rtlCol="0" anchor="ctr"/>
          <a:lstStyle/>
          <a:p>
            <a:pPr marL="0" indent="0" algn="ctr">
              <a:buNone/>
            </a:pPr>
            <a:r>
              <a:rPr lang="en-US" sz="1400" dirty="0">
                <a:solidFill>
                  <a:srgbClr val="FFFFFF"/>
                </a:solidFill>
                <a:latin typeface="Roboto" pitchFamily="34" charset="0"/>
                <a:ea typeface="Roboto" pitchFamily="34" charset="-122"/>
                <a:cs typeface="Roboto" pitchFamily="34" charset="-120"/>
              </a:rPr>
              <a:t>DINOv1</a:t>
            </a:r>
            <a:endParaRPr lang="en-US" sz="1400" dirty="0"/>
          </a:p>
        </p:txBody>
      </p:sp>
      <p:sp>
        <p:nvSpPr>
          <p:cNvPr id="51" name="Shape 49"/>
          <p:cNvSpPr/>
          <p:nvPr/>
        </p:nvSpPr>
        <p:spPr>
          <a:xfrm>
            <a:off x="4967021" y="6537960"/>
            <a:ext cx="2209190" cy="228600"/>
          </a:xfrm>
          <a:prstGeom prst="rect">
            <a:avLst/>
          </a:prstGeom>
          <a:solidFill>
            <a:srgbClr val="BDBDBD"/>
          </a:solidFill>
          <a:ln/>
        </p:spPr>
      </p:sp>
      <p:sp>
        <p:nvSpPr>
          <p:cNvPr id="52" name="Text 50"/>
          <p:cNvSpPr/>
          <p:nvPr/>
        </p:nvSpPr>
        <p:spPr>
          <a:xfrm>
            <a:off x="4967021" y="6537960"/>
            <a:ext cx="2209190" cy="228600"/>
          </a:xfrm>
          <a:prstGeom prst="rect">
            <a:avLst/>
          </a:prstGeom>
          <a:noFill/>
          <a:ln/>
        </p:spPr>
        <p:txBody>
          <a:bodyPr wrap="square" rtlCol="0" anchor="ctr"/>
          <a:lstStyle/>
          <a:p>
            <a:pPr marL="0" indent="0" algn="ctr">
              <a:buNone/>
            </a:pPr>
            <a:r>
              <a:rPr lang="en-US" sz="1400" dirty="0">
                <a:solidFill>
                  <a:srgbClr val="424242"/>
                </a:solidFill>
                <a:latin typeface="Roboto" pitchFamily="34" charset="0"/>
                <a:ea typeface="Roboto" pitchFamily="34" charset="-122"/>
                <a:cs typeface="Roboto" pitchFamily="34" charset="-120"/>
              </a:rPr>
              <a:t>DINOv2</a:t>
            </a:r>
            <a:endParaRPr lang="en-US" sz="1400" dirty="0"/>
          </a:p>
        </p:txBody>
      </p:sp>
      <p:sp>
        <p:nvSpPr>
          <p:cNvPr id="53" name="Shape 51"/>
          <p:cNvSpPr/>
          <p:nvPr/>
        </p:nvSpPr>
        <p:spPr>
          <a:xfrm>
            <a:off x="7221931" y="6537960"/>
            <a:ext cx="2209190" cy="228600"/>
          </a:xfrm>
          <a:prstGeom prst="rect">
            <a:avLst/>
          </a:prstGeom>
          <a:solidFill>
            <a:srgbClr val="BDBDBD"/>
          </a:solidFill>
          <a:ln/>
        </p:spPr>
      </p:sp>
      <p:sp>
        <p:nvSpPr>
          <p:cNvPr id="54" name="Text 52"/>
          <p:cNvSpPr/>
          <p:nvPr/>
        </p:nvSpPr>
        <p:spPr>
          <a:xfrm>
            <a:off x="7221931" y="6537960"/>
            <a:ext cx="2209190" cy="228600"/>
          </a:xfrm>
          <a:prstGeom prst="rect">
            <a:avLst/>
          </a:prstGeom>
          <a:noFill/>
          <a:ln/>
        </p:spPr>
        <p:txBody>
          <a:bodyPr wrap="square" rtlCol="0" anchor="ctr"/>
          <a:lstStyle/>
          <a:p>
            <a:pPr marL="0" indent="0" algn="ctr">
              <a:buNone/>
            </a:pPr>
            <a:r>
              <a:rPr lang="en-US" sz="1400" dirty="0">
                <a:solidFill>
                  <a:srgbClr val="424242"/>
                </a:solidFill>
                <a:latin typeface="Roboto" pitchFamily="34" charset="0"/>
                <a:ea typeface="Roboto" pitchFamily="34" charset="-122"/>
                <a:cs typeface="Roboto" pitchFamily="34" charset="-120"/>
              </a:rPr>
              <a:t>DINOv3</a:t>
            </a:r>
            <a:endParaRPr lang="en-US" sz="1400" dirty="0"/>
          </a:p>
        </p:txBody>
      </p:sp>
      <p:sp>
        <p:nvSpPr>
          <p:cNvPr id="55" name="Shape 53"/>
          <p:cNvSpPr/>
          <p:nvPr/>
        </p:nvSpPr>
        <p:spPr>
          <a:xfrm>
            <a:off x="9476842" y="6537960"/>
            <a:ext cx="2209190" cy="228600"/>
          </a:xfrm>
          <a:prstGeom prst="rect">
            <a:avLst/>
          </a:prstGeom>
          <a:solidFill>
            <a:srgbClr val="BDBDBD"/>
          </a:solidFill>
          <a:ln/>
        </p:spPr>
      </p:sp>
      <p:sp>
        <p:nvSpPr>
          <p:cNvPr id="56" name="Text 54"/>
          <p:cNvSpPr/>
          <p:nvPr/>
        </p:nvSpPr>
        <p:spPr>
          <a:xfrm>
            <a:off x="9476842" y="6537960"/>
            <a:ext cx="2209190" cy="228600"/>
          </a:xfrm>
          <a:prstGeom prst="rect">
            <a:avLst/>
          </a:prstGeom>
          <a:noFill/>
          <a:ln/>
        </p:spPr>
        <p:txBody>
          <a:bodyPr wrap="square" rtlCol="0" anchor="ctr"/>
          <a:lstStyle/>
          <a:p>
            <a:pPr marL="0" indent="0" algn="ctr">
              <a:buNone/>
            </a:pPr>
            <a:r>
              <a:rPr lang="en-US" sz="1400" dirty="0">
                <a:solidFill>
                  <a:srgbClr val="424242"/>
                </a:solidFill>
                <a:latin typeface="Roboto" pitchFamily="34" charset="0"/>
                <a:ea typeface="Roboto" pitchFamily="34" charset="-122"/>
                <a:cs typeface="Roboto" pitchFamily="34" charset="-120"/>
              </a:rPr>
              <a:t>Tổng hợp</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21"/>
          <p:cNvSpPr/>
          <p:nvPr/>
        </p:nvSpPr>
        <p:spPr>
          <a:xfrm>
            <a:off x="4663439" y="2148840"/>
            <a:ext cx="1754293" cy="777240"/>
          </a:xfrm>
          <a:prstGeom prst="rect">
            <a:avLst/>
          </a:prstGeom>
          <a:solidFill>
            <a:srgbClr val="FFF8E1"/>
          </a:solidFill>
          <a:ln w="12700">
            <a:solidFill>
              <a:srgbClr val="BDBDBD"/>
            </a:solidFill>
            <a:prstDash val="solid"/>
          </a:ln>
        </p:spPr>
      </p:sp>
      <p:sp>
        <p:nvSpPr>
          <p:cNvPr id="32" name="Shape 30"/>
          <p:cNvSpPr/>
          <p:nvPr/>
        </p:nvSpPr>
        <p:spPr>
          <a:xfrm>
            <a:off x="4663439" y="3017520"/>
            <a:ext cx="1754293" cy="777240"/>
          </a:xfrm>
          <a:prstGeom prst="rect">
            <a:avLst/>
          </a:prstGeom>
          <a:solidFill>
            <a:srgbClr val="FFF8E1"/>
          </a:solidFill>
          <a:ln w="12700">
            <a:solidFill>
              <a:srgbClr val="BDBDBD"/>
            </a:solidFill>
            <a:prstDash val="solid"/>
          </a:ln>
        </p:spPr>
      </p:sp>
      <p:sp>
        <p:nvSpPr>
          <p:cNvPr id="41" name="Shape 39"/>
          <p:cNvSpPr/>
          <p:nvPr/>
        </p:nvSpPr>
        <p:spPr>
          <a:xfrm>
            <a:off x="4663439" y="3886200"/>
            <a:ext cx="1754293" cy="777240"/>
          </a:xfrm>
          <a:prstGeom prst="rect">
            <a:avLst/>
          </a:prstGeom>
          <a:solidFill>
            <a:srgbClr val="E8F5E9"/>
          </a:solidFill>
          <a:ln w="12700">
            <a:solidFill>
              <a:srgbClr val="2E7D32"/>
            </a:solidFill>
            <a:prstDash val="solid"/>
          </a:ln>
        </p:spPr>
      </p:sp>
      <p:sp>
        <p:nvSpPr>
          <p:cNvPr id="50" name="Shape 48"/>
          <p:cNvSpPr/>
          <p:nvPr/>
        </p:nvSpPr>
        <p:spPr>
          <a:xfrm>
            <a:off x="4663439" y="4754880"/>
            <a:ext cx="1754293" cy="777240"/>
          </a:xfrm>
          <a:prstGeom prst="rect">
            <a:avLst/>
          </a:prstGeom>
          <a:solidFill>
            <a:srgbClr val="E8F5E9"/>
          </a:solidFill>
          <a:ln w="12700">
            <a:solidFill>
              <a:srgbClr val="2E7D32"/>
            </a:solidFill>
            <a:prstDash val="solid"/>
          </a:ln>
        </p:spPr>
      </p:sp>
      <p:sp>
        <p:nvSpPr>
          <p:cNvPr id="33" name="Text 31"/>
          <p:cNvSpPr/>
          <p:nvPr/>
        </p:nvSpPr>
        <p:spPr>
          <a:xfrm>
            <a:off x="4663440" y="301752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Logits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(65536-dim)</a:t>
            </a:r>
            <a:endParaRPr lang="en-US" dirty="0"/>
          </a:p>
        </p:txBody>
      </p:sp>
      <p:sp>
        <p:nvSpPr>
          <p:cNvPr id="42" name="Text 40"/>
          <p:cNvSpPr/>
          <p:nvPr/>
        </p:nvSpPr>
        <p:spPr>
          <a:xfrm>
            <a:off x="4663440" y="388620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Centered</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(65536-dim)</a:t>
            </a:r>
            <a:endParaRPr lang="en-US" dirty="0"/>
          </a:p>
        </p:txBody>
      </p:sp>
      <p:sp>
        <p:nvSpPr>
          <p:cNvPr id="51" name="Text 49"/>
          <p:cNvSpPr/>
          <p:nvPr/>
        </p:nvSpPr>
        <p:spPr>
          <a:xfrm>
            <a:off x="4663440" y="4754880"/>
            <a:ext cx="1645920" cy="777240"/>
          </a:xfrm>
          <a:prstGeom prst="rect">
            <a:avLst/>
          </a:prstGeom>
          <a:noFill/>
          <a:ln/>
        </p:spPr>
        <p:txBody>
          <a:bodyPr wrap="square" rtlCol="0" anchor="ctr"/>
          <a:lstStyle/>
          <a:p>
            <a:pPr algn="ctr"/>
            <a:r>
              <a:rPr lang="en-US" dirty="0">
                <a:solidFill>
                  <a:srgbClr val="212121"/>
                </a:solidFill>
                <a:latin typeface="Roboto" pitchFamily="34" charset="0"/>
                <a:ea typeface="Roboto" pitchFamily="34" charset="-122"/>
                <a:cs typeface="Roboto" pitchFamily="34" charset="-120"/>
              </a:rPr>
              <a:t>P</a:t>
            </a:r>
            <a:r>
              <a:rPr lang="en-US" baseline="-25000" dirty="0">
                <a:solidFill>
                  <a:srgbClr val="212121"/>
                </a:solidFill>
                <a:latin typeface="Roboto" pitchFamily="34" charset="0"/>
                <a:ea typeface="Roboto" pitchFamily="34" charset="-122"/>
                <a:cs typeface="Roboto" pitchFamily="34" charset="-120"/>
              </a:rPr>
              <a:t>2</a:t>
            </a:r>
          </a:p>
          <a:p>
            <a:pPr algn="ctr"/>
            <a:r>
              <a:rPr lang="en-US" dirty="0">
                <a:solidFill>
                  <a:srgbClr val="212121"/>
                </a:solidFill>
                <a:latin typeface="Roboto" pitchFamily="34" charset="0"/>
                <a:ea typeface="Roboto" pitchFamily="34" charset="-122"/>
                <a:cs typeface="Roboto" pitchFamily="34" charset="-120"/>
              </a:rPr>
              <a:t>(xác </a:t>
            </a:r>
            <a:r>
              <a:rPr lang="en-US" dirty="0" err="1">
                <a:solidFill>
                  <a:srgbClr val="212121"/>
                </a:solidFill>
                <a:latin typeface="Roboto" pitchFamily="34" charset="0"/>
                <a:ea typeface="Roboto" pitchFamily="34" charset="-122"/>
                <a:cs typeface="Roboto" pitchFamily="34" charset="-120"/>
              </a:rPr>
              <a:t>suất</a:t>
            </a:r>
            <a:r>
              <a:rPr lang="en-US" dirty="0">
                <a:solidFill>
                  <a:srgbClr val="212121"/>
                </a:solidFill>
                <a:latin typeface="Roboto" pitchFamily="34" charset="0"/>
                <a:ea typeface="Roboto" pitchFamily="34" charset="-122"/>
                <a:cs typeface="Roboto" pitchFamily="34" charset="-120"/>
              </a:rPr>
              <a:t>)</a:t>
            </a:r>
            <a:endParaRPr lang="en-US" dirty="0"/>
          </a:p>
        </p:txBody>
      </p:sp>
      <p:sp>
        <p:nvSpPr>
          <p:cNvPr id="24" name="Text 22"/>
          <p:cNvSpPr/>
          <p:nvPr/>
        </p:nvSpPr>
        <p:spPr>
          <a:xfrm>
            <a:off x="4663440" y="214884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CLS token</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(768-dim)</a:t>
            </a:r>
            <a:endParaRPr lang="en-US" dirty="0"/>
          </a:p>
        </p:txBody>
      </p:sp>
      <p:sp>
        <p:nvSpPr>
          <p:cNvPr id="2" name="Shape 0"/>
          <p:cNvSpPr/>
          <p:nvPr/>
        </p:nvSpPr>
        <p:spPr>
          <a:xfrm>
            <a:off x="0" y="0"/>
            <a:ext cx="12188952" cy="822960"/>
          </a:xfrm>
          <a:prstGeom prst="rect">
            <a:avLst/>
          </a:prstGeom>
          <a:solidFill>
            <a:srgbClr val="2E7D32"/>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Teacher</a:t>
            </a:r>
            <a:endParaRPr lang="en-US" sz="3200" dirty="0"/>
          </a:p>
        </p:txBody>
      </p:sp>
      <p:sp>
        <p:nvSpPr>
          <p:cNvPr id="4" name="Text 2"/>
          <p:cNvSpPr/>
          <p:nvPr/>
        </p:nvSpPr>
        <p:spPr>
          <a:xfrm>
            <a:off x="457200" y="1005840"/>
            <a:ext cx="1645920" cy="228600"/>
          </a:xfrm>
          <a:prstGeom prst="rect">
            <a:avLst/>
          </a:prstGeom>
          <a:noFill/>
          <a:ln/>
        </p:spPr>
        <p:txBody>
          <a:bodyPr wrap="square" rtlCol="0" anchor="ctr"/>
          <a:lstStyle/>
          <a:p>
            <a:pPr marL="0" indent="0" algn="ctr">
              <a:buNone/>
            </a:pPr>
            <a:r>
              <a:rPr lang="en-US" b="1" dirty="0">
                <a:solidFill>
                  <a:srgbClr val="424242"/>
                </a:solidFill>
                <a:latin typeface="Roboto" pitchFamily="34" charset="0"/>
                <a:ea typeface="Roboto" pitchFamily="34" charset="-122"/>
                <a:cs typeface="Roboto" pitchFamily="34" charset="-120"/>
              </a:rPr>
              <a:t>INPUT</a:t>
            </a:r>
            <a:endParaRPr lang="en-US" dirty="0"/>
          </a:p>
        </p:txBody>
      </p:sp>
      <p:sp>
        <p:nvSpPr>
          <p:cNvPr id="5" name="Text 3"/>
          <p:cNvSpPr/>
          <p:nvPr/>
        </p:nvSpPr>
        <p:spPr>
          <a:xfrm>
            <a:off x="2560320" y="1005840"/>
            <a:ext cx="1645920" cy="228600"/>
          </a:xfrm>
          <a:prstGeom prst="rect">
            <a:avLst/>
          </a:prstGeom>
          <a:noFill/>
          <a:ln/>
        </p:spPr>
        <p:txBody>
          <a:bodyPr wrap="square" rtlCol="0" anchor="ctr"/>
          <a:lstStyle/>
          <a:p>
            <a:pPr marL="0" indent="0" algn="ctr">
              <a:buNone/>
            </a:pPr>
            <a:r>
              <a:rPr lang="en-US" b="1" dirty="0">
                <a:solidFill>
                  <a:srgbClr val="2E7D32"/>
                </a:solidFill>
                <a:latin typeface="Roboto" pitchFamily="34" charset="0"/>
                <a:ea typeface="Roboto" pitchFamily="34" charset="-122"/>
                <a:cs typeface="Roboto" pitchFamily="34" charset="-120"/>
              </a:rPr>
              <a:t>XỬ LÝ</a:t>
            </a:r>
            <a:endParaRPr lang="en-US" dirty="0"/>
          </a:p>
        </p:txBody>
      </p:sp>
      <p:sp>
        <p:nvSpPr>
          <p:cNvPr id="6" name="Text 4"/>
          <p:cNvSpPr/>
          <p:nvPr/>
        </p:nvSpPr>
        <p:spPr>
          <a:xfrm>
            <a:off x="4663440" y="1005840"/>
            <a:ext cx="1645920" cy="228600"/>
          </a:xfrm>
          <a:prstGeom prst="rect">
            <a:avLst/>
          </a:prstGeom>
          <a:noFill/>
          <a:ln/>
        </p:spPr>
        <p:txBody>
          <a:bodyPr wrap="square" rtlCol="0" anchor="ctr"/>
          <a:lstStyle/>
          <a:p>
            <a:pPr marL="0" indent="0" algn="ctr">
              <a:buNone/>
            </a:pPr>
            <a:r>
              <a:rPr lang="en-US" b="1" dirty="0">
                <a:solidFill>
                  <a:srgbClr val="424242"/>
                </a:solidFill>
                <a:latin typeface="Roboto" pitchFamily="34" charset="0"/>
                <a:ea typeface="Roboto" pitchFamily="34" charset="-122"/>
                <a:cs typeface="Roboto" pitchFamily="34" charset="-120"/>
              </a:rPr>
              <a:t>OUTPUT</a:t>
            </a:r>
            <a:endParaRPr lang="en-US" dirty="0"/>
          </a:p>
        </p:txBody>
      </p:sp>
      <p:sp>
        <p:nvSpPr>
          <p:cNvPr id="7" name="Text 5"/>
          <p:cNvSpPr/>
          <p:nvPr/>
        </p:nvSpPr>
        <p:spPr>
          <a:xfrm>
            <a:off x="6492240" y="1005840"/>
            <a:ext cx="5303520" cy="228600"/>
          </a:xfrm>
          <a:prstGeom prst="rect">
            <a:avLst/>
          </a:prstGeom>
          <a:noFill/>
          <a:ln/>
        </p:spPr>
        <p:txBody>
          <a:bodyPr wrap="square" rtlCol="0" anchor="ctr"/>
          <a:lstStyle/>
          <a:p>
            <a:pPr marL="0" indent="0" algn="l">
              <a:buNone/>
            </a:pPr>
            <a:r>
              <a:rPr lang="en-US" b="1" dirty="0">
                <a:solidFill>
                  <a:srgbClr val="757575"/>
                </a:solidFill>
                <a:latin typeface="Roboto" pitchFamily="34" charset="0"/>
                <a:ea typeface="Roboto" pitchFamily="34" charset="-122"/>
                <a:cs typeface="Roboto" pitchFamily="34" charset="-120"/>
              </a:rPr>
              <a:t>CHI TIẾT </a:t>
            </a:r>
            <a:endParaRPr lang="en-US" dirty="0"/>
          </a:p>
        </p:txBody>
      </p:sp>
      <p:sp>
        <p:nvSpPr>
          <p:cNvPr id="8" name="Shape 6"/>
          <p:cNvSpPr/>
          <p:nvPr/>
        </p:nvSpPr>
        <p:spPr>
          <a:xfrm>
            <a:off x="457200" y="1280160"/>
            <a:ext cx="1645920" cy="777240"/>
          </a:xfrm>
          <a:prstGeom prst="rect">
            <a:avLst/>
          </a:prstGeom>
          <a:solidFill>
            <a:srgbClr val="E8F5E9"/>
          </a:solidFill>
          <a:ln w="12700">
            <a:solidFill>
              <a:srgbClr val="2E7D32"/>
            </a:solidFill>
            <a:prstDash val="solid"/>
          </a:ln>
        </p:spPr>
      </p:sp>
      <p:sp>
        <p:nvSpPr>
          <p:cNvPr id="9" name="Text 7"/>
          <p:cNvSpPr/>
          <p:nvPr/>
        </p:nvSpPr>
        <p:spPr>
          <a:xfrm>
            <a:off x="457200" y="128016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RGB image</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224×224×3</a:t>
            </a:r>
            <a:endParaRPr lang="en-US" dirty="0"/>
          </a:p>
        </p:txBody>
      </p:sp>
      <p:sp>
        <p:nvSpPr>
          <p:cNvPr id="10" name="Text 8"/>
          <p:cNvSpPr/>
          <p:nvPr/>
        </p:nvSpPr>
        <p:spPr>
          <a:xfrm>
            <a:off x="2103120" y="128016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11" name="Shape 9"/>
          <p:cNvSpPr/>
          <p:nvPr/>
        </p:nvSpPr>
        <p:spPr>
          <a:xfrm>
            <a:off x="2560320" y="1280160"/>
            <a:ext cx="1645920" cy="777240"/>
          </a:xfrm>
          <a:prstGeom prst="rect">
            <a:avLst/>
          </a:prstGeom>
          <a:solidFill>
            <a:srgbClr val="2E7D32"/>
          </a:solidFill>
          <a:ln w="12700">
            <a:solidFill>
              <a:srgbClr val="2E7D32"/>
            </a:solidFill>
            <a:prstDash val="solid"/>
          </a:ln>
        </p:spPr>
      </p:sp>
      <p:sp>
        <p:nvSpPr>
          <p:cNvPr id="12" name="Text 10"/>
          <p:cNvSpPr/>
          <p:nvPr/>
        </p:nvSpPr>
        <p:spPr>
          <a:xfrm>
            <a:off x="2560320" y="1280160"/>
            <a:ext cx="1645920" cy="777240"/>
          </a:xfrm>
          <a:prstGeom prst="rect">
            <a:avLst/>
          </a:prstGeom>
          <a:noFill/>
          <a:ln/>
        </p:spPr>
        <p:txBody>
          <a:bodyPr wrap="square" rtlCol="0" anchor="ctr"/>
          <a:lstStyle/>
          <a:p>
            <a:pPr marL="0" indent="0" algn="ctr">
              <a:buNone/>
            </a:pPr>
            <a:r>
              <a:rPr lang="en-US" b="1" dirty="0">
                <a:solidFill>
                  <a:srgbClr val="FFFFFF"/>
                </a:solidFill>
                <a:latin typeface="Roboto" pitchFamily="34" charset="0"/>
                <a:ea typeface="Roboto" pitchFamily="34" charset="-122"/>
                <a:cs typeface="Roboto" pitchFamily="34" charset="-120"/>
              </a:rPr>
              <a:t>Patch</a:t>
            </a:r>
            <a:endParaRPr lang="en-US" dirty="0"/>
          </a:p>
          <a:p>
            <a:pPr marL="0" indent="0" algn="ctr">
              <a:buNone/>
            </a:pPr>
            <a:r>
              <a:rPr lang="en-US" b="1" dirty="0">
                <a:solidFill>
                  <a:srgbClr val="FFFFFF"/>
                </a:solidFill>
                <a:latin typeface="Roboto" pitchFamily="34" charset="0"/>
                <a:ea typeface="Roboto" pitchFamily="34" charset="-122"/>
                <a:cs typeface="Roboto" pitchFamily="34" charset="-120"/>
              </a:rPr>
              <a:t>Embedding</a:t>
            </a:r>
            <a:endParaRPr lang="en-US" dirty="0"/>
          </a:p>
        </p:txBody>
      </p:sp>
      <p:sp>
        <p:nvSpPr>
          <p:cNvPr id="13" name="Text 11"/>
          <p:cNvSpPr/>
          <p:nvPr/>
        </p:nvSpPr>
        <p:spPr>
          <a:xfrm>
            <a:off x="4206240" y="128016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14" name="Shape 12"/>
          <p:cNvSpPr/>
          <p:nvPr/>
        </p:nvSpPr>
        <p:spPr>
          <a:xfrm>
            <a:off x="4663439" y="1280160"/>
            <a:ext cx="1754293" cy="777240"/>
          </a:xfrm>
          <a:prstGeom prst="rect">
            <a:avLst/>
          </a:prstGeom>
          <a:solidFill>
            <a:srgbClr val="E8F5E9"/>
          </a:solidFill>
          <a:ln w="12700">
            <a:solidFill>
              <a:srgbClr val="2E7D32"/>
            </a:solidFill>
            <a:prstDash val="solid"/>
          </a:ln>
        </p:spPr>
      </p:sp>
      <p:sp>
        <p:nvSpPr>
          <p:cNvPr id="15" name="Text 13"/>
          <p:cNvSpPr/>
          <p:nvPr/>
        </p:nvSpPr>
        <p:spPr>
          <a:xfrm>
            <a:off x="4663440" y="1297940"/>
            <a:ext cx="1754293"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196 vectors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(768-dim each)</a:t>
            </a:r>
            <a:endParaRPr lang="en-US" dirty="0"/>
          </a:p>
        </p:txBody>
      </p:sp>
      <p:sp>
        <p:nvSpPr>
          <p:cNvPr id="16" name="Text 14"/>
          <p:cNvSpPr/>
          <p:nvPr/>
        </p:nvSpPr>
        <p:spPr>
          <a:xfrm>
            <a:off x="6492240" y="1280160"/>
            <a:ext cx="5303520" cy="777240"/>
          </a:xfrm>
          <a:prstGeom prst="rect">
            <a:avLst/>
          </a:prstGeom>
          <a:noFill/>
          <a:ln/>
        </p:spPr>
        <p:txBody>
          <a:bodyPr wrap="square" rtlCol="0" anchor="ctr"/>
          <a:lstStyle/>
          <a:p>
            <a:pPr marL="0" indent="0">
              <a:buNone/>
            </a:pPr>
            <a:r>
              <a:rPr lang="en-US" i="1" dirty="0">
                <a:solidFill>
                  <a:srgbClr val="2E7D32"/>
                </a:solidFill>
                <a:latin typeface="Roboto" pitchFamily="34" charset="0"/>
                <a:ea typeface="Roboto" pitchFamily="34" charset="-122"/>
                <a:cs typeface="Roboto" pitchFamily="34" charset="-120"/>
              </a:rPr>
              <a:t>Chia 14×14 patches (lớn hơn Student)</a:t>
            </a:r>
            <a:endParaRPr lang="en-US" dirty="0"/>
          </a:p>
        </p:txBody>
      </p:sp>
      <p:sp>
        <p:nvSpPr>
          <p:cNvPr id="17" name="Shape 15"/>
          <p:cNvSpPr/>
          <p:nvPr/>
        </p:nvSpPr>
        <p:spPr>
          <a:xfrm>
            <a:off x="457200" y="2148840"/>
            <a:ext cx="1645920" cy="777240"/>
          </a:xfrm>
          <a:prstGeom prst="rect">
            <a:avLst/>
          </a:prstGeom>
          <a:solidFill>
            <a:srgbClr val="FFF8E1"/>
          </a:solidFill>
          <a:ln w="12700">
            <a:solidFill>
              <a:srgbClr val="BDBDBD"/>
            </a:solidFill>
            <a:prstDash val="solid"/>
          </a:ln>
        </p:spPr>
      </p:sp>
      <p:sp>
        <p:nvSpPr>
          <p:cNvPr id="18" name="Text 16"/>
          <p:cNvSpPr/>
          <p:nvPr/>
        </p:nvSpPr>
        <p:spPr>
          <a:xfrm>
            <a:off x="457200" y="214884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196 vectors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 CLS token</a:t>
            </a:r>
            <a:endParaRPr lang="en-US" dirty="0"/>
          </a:p>
        </p:txBody>
      </p:sp>
      <p:sp>
        <p:nvSpPr>
          <p:cNvPr id="19" name="Text 17"/>
          <p:cNvSpPr/>
          <p:nvPr/>
        </p:nvSpPr>
        <p:spPr>
          <a:xfrm>
            <a:off x="2103120" y="214884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20" name="Shape 18"/>
          <p:cNvSpPr/>
          <p:nvPr/>
        </p:nvSpPr>
        <p:spPr>
          <a:xfrm>
            <a:off x="2560320" y="2148840"/>
            <a:ext cx="1645920" cy="777240"/>
          </a:xfrm>
          <a:prstGeom prst="rect">
            <a:avLst/>
          </a:prstGeom>
          <a:solidFill>
            <a:srgbClr val="1565C0"/>
          </a:solidFill>
          <a:ln w="12700">
            <a:solidFill>
              <a:srgbClr val="1565C0"/>
            </a:solidFill>
            <a:prstDash val="solid"/>
          </a:ln>
        </p:spPr>
      </p:sp>
      <p:sp>
        <p:nvSpPr>
          <p:cNvPr id="21" name="Text 19"/>
          <p:cNvSpPr/>
          <p:nvPr/>
        </p:nvSpPr>
        <p:spPr>
          <a:xfrm>
            <a:off x="2560320" y="2148840"/>
            <a:ext cx="1645920" cy="777240"/>
          </a:xfrm>
          <a:prstGeom prst="rect">
            <a:avLst/>
          </a:prstGeom>
          <a:noFill/>
          <a:ln/>
        </p:spPr>
        <p:txBody>
          <a:bodyPr wrap="square" rtlCol="0" anchor="ctr"/>
          <a:lstStyle/>
          <a:p>
            <a:pPr marL="0" indent="0" algn="ctr">
              <a:buNone/>
            </a:pPr>
            <a:r>
              <a:rPr lang="en-US" b="1" dirty="0">
                <a:solidFill>
                  <a:srgbClr val="FFFFFF"/>
                </a:solidFill>
                <a:latin typeface="Roboto" pitchFamily="34" charset="0"/>
                <a:ea typeface="Roboto" pitchFamily="34" charset="-122"/>
                <a:cs typeface="Roboto" pitchFamily="34" charset="-120"/>
              </a:rPr>
              <a:t>ViT</a:t>
            </a:r>
            <a:endParaRPr lang="en-US" dirty="0"/>
          </a:p>
          <a:p>
            <a:pPr marL="0" indent="0" algn="ctr">
              <a:buNone/>
            </a:pPr>
            <a:r>
              <a:rPr lang="en-US" b="1" dirty="0">
                <a:solidFill>
                  <a:srgbClr val="FFFFFF"/>
                </a:solidFill>
                <a:latin typeface="Roboto" pitchFamily="34" charset="0"/>
                <a:ea typeface="Roboto" pitchFamily="34" charset="-122"/>
                <a:cs typeface="Roboto" pitchFamily="34" charset="-120"/>
              </a:rPr>
              <a:t>Backbone</a:t>
            </a:r>
            <a:endParaRPr lang="en-US" dirty="0"/>
          </a:p>
        </p:txBody>
      </p:sp>
      <p:sp>
        <p:nvSpPr>
          <p:cNvPr id="22" name="Text 20"/>
          <p:cNvSpPr/>
          <p:nvPr/>
        </p:nvSpPr>
        <p:spPr>
          <a:xfrm>
            <a:off x="4206240" y="214884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25" name="Text 23"/>
          <p:cNvSpPr/>
          <p:nvPr/>
        </p:nvSpPr>
        <p:spPr>
          <a:xfrm>
            <a:off x="6492240" y="2148840"/>
            <a:ext cx="5303520" cy="777240"/>
          </a:xfrm>
          <a:prstGeom prst="rect">
            <a:avLst/>
          </a:prstGeom>
          <a:noFill/>
          <a:ln/>
        </p:spPr>
        <p:txBody>
          <a:bodyPr wrap="square" rtlCol="0" anchor="ctr"/>
          <a:lstStyle/>
          <a:p>
            <a:pPr marL="0" indent="0">
              <a:buNone/>
            </a:pPr>
            <a:r>
              <a:rPr lang="en-US" i="1" dirty="0">
                <a:solidFill>
                  <a:srgbClr val="757575"/>
                </a:solidFill>
                <a:latin typeface="Roboto" pitchFamily="34" charset="0"/>
                <a:ea typeface="Roboto" pitchFamily="34" charset="-122"/>
              </a:rPr>
              <a:t>Self-attention</a:t>
            </a:r>
            <a:endParaRPr lang="en-US" dirty="0"/>
          </a:p>
        </p:txBody>
      </p:sp>
      <p:sp>
        <p:nvSpPr>
          <p:cNvPr id="26" name="Shape 24"/>
          <p:cNvSpPr/>
          <p:nvPr/>
        </p:nvSpPr>
        <p:spPr>
          <a:xfrm>
            <a:off x="457200" y="3017520"/>
            <a:ext cx="1645920" cy="777240"/>
          </a:xfrm>
          <a:prstGeom prst="rect">
            <a:avLst/>
          </a:prstGeom>
          <a:solidFill>
            <a:srgbClr val="FFF8E1"/>
          </a:solidFill>
          <a:ln w="12700">
            <a:solidFill>
              <a:srgbClr val="BDBDBD"/>
            </a:solidFill>
            <a:prstDash val="solid"/>
          </a:ln>
        </p:spPr>
      </p:sp>
      <p:sp>
        <p:nvSpPr>
          <p:cNvPr id="27" name="Text 25"/>
          <p:cNvSpPr/>
          <p:nvPr/>
        </p:nvSpPr>
        <p:spPr>
          <a:xfrm>
            <a:off x="457200" y="301752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CLS token</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(768-dim)</a:t>
            </a:r>
            <a:endParaRPr lang="en-US" dirty="0"/>
          </a:p>
        </p:txBody>
      </p:sp>
      <p:sp>
        <p:nvSpPr>
          <p:cNvPr id="28" name="Text 26"/>
          <p:cNvSpPr/>
          <p:nvPr/>
        </p:nvSpPr>
        <p:spPr>
          <a:xfrm>
            <a:off x="2103120" y="301752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29" name="Shape 27"/>
          <p:cNvSpPr/>
          <p:nvPr/>
        </p:nvSpPr>
        <p:spPr>
          <a:xfrm>
            <a:off x="2560320" y="3017520"/>
            <a:ext cx="1645920" cy="777240"/>
          </a:xfrm>
          <a:prstGeom prst="rect">
            <a:avLst/>
          </a:prstGeom>
          <a:solidFill>
            <a:srgbClr val="1565C0"/>
          </a:solidFill>
          <a:ln w="12700">
            <a:solidFill>
              <a:srgbClr val="1565C0"/>
            </a:solidFill>
            <a:prstDash val="solid"/>
          </a:ln>
        </p:spPr>
      </p:sp>
      <p:sp>
        <p:nvSpPr>
          <p:cNvPr id="30" name="Text 28"/>
          <p:cNvSpPr/>
          <p:nvPr/>
        </p:nvSpPr>
        <p:spPr>
          <a:xfrm>
            <a:off x="2560320" y="3017520"/>
            <a:ext cx="1645920" cy="777240"/>
          </a:xfrm>
          <a:prstGeom prst="rect">
            <a:avLst/>
          </a:prstGeom>
          <a:noFill/>
          <a:ln/>
        </p:spPr>
        <p:txBody>
          <a:bodyPr wrap="square" rtlCol="0" anchor="ctr"/>
          <a:lstStyle/>
          <a:p>
            <a:pPr marL="0" indent="0" algn="ctr">
              <a:buNone/>
            </a:pPr>
            <a:r>
              <a:rPr lang="en-US" b="1" dirty="0">
                <a:solidFill>
                  <a:srgbClr val="FFFFFF"/>
                </a:solidFill>
                <a:latin typeface="Roboto" pitchFamily="34" charset="0"/>
                <a:ea typeface="Roboto" pitchFamily="34" charset="-122"/>
                <a:cs typeface="Roboto" pitchFamily="34" charset="-120"/>
              </a:rPr>
              <a:t>MLP</a:t>
            </a:r>
            <a:endParaRPr lang="en-US" dirty="0"/>
          </a:p>
          <a:p>
            <a:pPr marL="0" indent="0" algn="ctr">
              <a:buNone/>
            </a:pPr>
            <a:r>
              <a:rPr lang="en-US" b="1" dirty="0">
                <a:solidFill>
                  <a:srgbClr val="FFFFFF"/>
                </a:solidFill>
                <a:latin typeface="Roboto" pitchFamily="34" charset="0"/>
                <a:ea typeface="Roboto" pitchFamily="34" charset="-122"/>
                <a:cs typeface="Roboto" pitchFamily="34" charset="-120"/>
              </a:rPr>
              <a:t>Head</a:t>
            </a:r>
            <a:endParaRPr lang="en-US" dirty="0"/>
          </a:p>
        </p:txBody>
      </p:sp>
      <p:sp>
        <p:nvSpPr>
          <p:cNvPr id="31" name="Text 29"/>
          <p:cNvSpPr/>
          <p:nvPr/>
        </p:nvSpPr>
        <p:spPr>
          <a:xfrm>
            <a:off x="4206240" y="301752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34" name="Text 32"/>
          <p:cNvSpPr/>
          <p:nvPr/>
        </p:nvSpPr>
        <p:spPr>
          <a:xfrm>
            <a:off x="6492240" y="3017520"/>
            <a:ext cx="5303520" cy="777240"/>
          </a:xfrm>
          <a:prstGeom prst="rect">
            <a:avLst/>
          </a:prstGeom>
          <a:noFill/>
          <a:ln/>
        </p:spPr>
        <p:txBody>
          <a:bodyPr wrap="square" rtlCol="0" anchor="ctr"/>
          <a:lstStyle/>
          <a:p>
            <a:r>
              <a:rPr lang="en-US" dirty="0">
                <a:solidFill>
                  <a:srgbClr val="757575"/>
                </a:solidFill>
                <a:latin typeface="Roboto" pitchFamily="34" charset="0"/>
                <a:ea typeface="Roboto" pitchFamily="34" charset="-122"/>
                <a:cs typeface="Roboto" pitchFamily="34" charset="-120"/>
              </a:rPr>
              <a:t>768 → 2048 → 2048 → 65536</a:t>
            </a:r>
            <a:endParaRPr lang="en-US" dirty="0"/>
          </a:p>
        </p:txBody>
      </p:sp>
      <p:sp>
        <p:nvSpPr>
          <p:cNvPr id="35" name="Shape 33"/>
          <p:cNvSpPr/>
          <p:nvPr/>
        </p:nvSpPr>
        <p:spPr>
          <a:xfrm>
            <a:off x="457200" y="3886200"/>
            <a:ext cx="1645920" cy="777240"/>
          </a:xfrm>
          <a:prstGeom prst="rect">
            <a:avLst/>
          </a:prstGeom>
          <a:solidFill>
            <a:srgbClr val="E8F5E9"/>
          </a:solidFill>
          <a:ln w="12700">
            <a:solidFill>
              <a:srgbClr val="2E7D32"/>
            </a:solidFill>
            <a:prstDash val="solid"/>
          </a:ln>
        </p:spPr>
      </p:sp>
      <p:sp>
        <p:nvSpPr>
          <p:cNvPr id="36" name="Text 34"/>
          <p:cNvSpPr/>
          <p:nvPr/>
        </p:nvSpPr>
        <p:spPr>
          <a:xfrm>
            <a:off x="457200" y="388620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Logits</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(65536-dim)</a:t>
            </a:r>
            <a:endParaRPr lang="en-US" dirty="0"/>
          </a:p>
        </p:txBody>
      </p:sp>
      <p:sp>
        <p:nvSpPr>
          <p:cNvPr id="37" name="Text 35"/>
          <p:cNvSpPr/>
          <p:nvPr/>
        </p:nvSpPr>
        <p:spPr>
          <a:xfrm>
            <a:off x="2103120" y="388620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38" name="Shape 36"/>
          <p:cNvSpPr/>
          <p:nvPr/>
        </p:nvSpPr>
        <p:spPr>
          <a:xfrm>
            <a:off x="2560320" y="3886200"/>
            <a:ext cx="1645920" cy="777240"/>
          </a:xfrm>
          <a:prstGeom prst="rect">
            <a:avLst/>
          </a:prstGeom>
          <a:solidFill>
            <a:srgbClr val="2E7D32"/>
          </a:solidFill>
          <a:ln w="12700">
            <a:solidFill>
              <a:srgbClr val="2E7D32"/>
            </a:solidFill>
            <a:prstDash val="solid"/>
          </a:ln>
        </p:spPr>
      </p:sp>
      <p:sp>
        <p:nvSpPr>
          <p:cNvPr id="39" name="Text 37"/>
          <p:cNvSpPr/>
          <p:nvPr/>
        </p:nvSpPr>
        <p:spPr>
          <a:xfrm>
            <a:off x="2560320" y="3886200"/>
            <a:ext cx="1645920" cy="777240"/>
          </a:xfrm>
          <a:prstGeom prst="rect">
            <a:avLst/>
          </a:prstGeom>
          <a:noFill/>
          <a:ln/>
        </p:spPr>
        <p:txBody>
          <a:bodyPr wrap="square" rtlCol="0" anchor="ctr"/>
          <a:lstStyle/>
          <a:p>
            <a:pPr marL="0" indent="0" algn="ctr">
              <a:buNone/>
            </a:pPr>
            <a:r>
              <a:rPr lang="en-US" b="1" dirty="0">
                <a:solidFill>
                  <a:srgbClr val="FFFFFF"/>
                </a:solidFill>
                <a:latin typeface="Roboto" pitchFamily="34" charset="0"/>
                <a:ea typeface="Roboto" pitchFamily="34" charset="-122"/>
                <a:cs typeface="Roboto" pitchFamily="34" charset="-120"/>
              </a:rPr>
              <a:t>Centering</a:t>
            </a:r>
            <a:endParaRPr lang="en-US" dirty="0"/>
          </a:p>
          <a:p>
            <a:pPr marL="0" indent="0" algn="ctr">
              <a:buNone/>
            </a:pPr>
            <a:r>
              <a:rPr lang="en-US" b="1" dirty="0">
                <a:solidFill>
                  <a:srgbClr val="FFFFFF"/>
                </a:solidFill>
                <a:latin typeface="Roboto" pitchFamily="34" charset="0"/>
                <a:ea typeface="Roboto" pitchFamily="34" charset="-122"/>
                <a:cs typeface="Roboto" pitchFamily="34" charset="-120"/>
              </a:rPr>
              <a:t>(- c)</a:t>
            </a:r>
            <a:endParaRPr lang="en-US" dirty="0"/>
          </a:p>
        </p:txBody>
      </p:sp>
      <p:sp>
        <p:nvSpPr>
          <p:cNvPr id="40" name="Text 38"/>
          <p:cNvSpPr/>
          <p:nvPr/>
        </p:nvSpPr>
        <p:spPr>
          <a:xfrm>
            <a:off x="4206240" y="388620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43" name="Text 41"/>
          <p:cNvSpPr/>
          <p:nvPr/>
        </p:nvSpPr>
        <p:spPr>
          <a:xfrm>
            <a:off x="6492240" y="3886200"/>
            <a:ext cx="5303520" cy="777240"/>
          </a:xfrm>
          <a:prstGeom prst="rect">
            <a:avLst/>
          </a:prstGeom>
          <a:noFill/>
          <a:ln/>
        </p:spPr>
        <p:txBody>
          <a:bodyPr wrap="square" rtlCol="0" anchor="ctr"/>
          <a:lstStyle/>
          <a:p>
            <a:pPr marL="0" indent="0">
              <a:buNone/>
            </a:pPr>
            <a:r>
              <a:rPr lang="en-US" i="1" dirty="0">
                <a:solidFill>
                  <a:srgbClr val="2E7D32"/>
                </a:solidFill>
                <a:latin typeface="Roboto" pitchFamily="34" charset="0"/>
                <a:ea typeface="Roboto" pitchFamily="34" charset="-122"/>
                <a:cs typeface="Roboto" pitchFamily="34" charset="-120"/>
              </a:rPr>
              <a:t>c = mean(batch). CHỐNG MODE COLLAPSE</a:t>
            </a:r>
            <a:endParaRPr lang="en-US" dirty="0"/>
          </a:p>
        </p:txBody>
      </p:sp>
      <p:sp>
        <p:nvSpPr>
          <p:cNvPr id="44" name="Shape 42"/>
          <p:cNvSpPr/>
          <p:nvPr/>
        </p:nvSpPr>
        <p:spPr>
          <a:xfrm>
            <a:off x="457200" y="4754880"/>
            <a:ext cx="1645920" cy="777240"/>
          </a:xfrm>
          <a:prstGeom prst="rect">
            <a:avLst/>
          </a:prstGeom>
          <a:solidFill>
            <a:srgbClr val="E8F5E9"/>
          </a:solidFill>
          <a:ln w="12700">
            <a:solidFill>
              <a:srgbClr val="2E7D32"/>
            </a:solidFill>
            <a:prstDash val="solid"/>
          </a:ln>
        </p:spPr>
      </p:sp>
      <p:sp>
        <p:nvSpPr>
          <p:cNvPr id="45" name="Text 43"/>
          <p:cNvSpPr/>
          <p:nvPr/>
        </p:nvSpPr>
        <p:spPr>
          <a:xfrm>
            <a:off x="457200" y="4754880"/>
            <a:ext cx="1645920" cy="777240"/>
          </a:xfrm>
          <a:prstGeom prst="rect">
            <a:avLst/>
          </a:prstGeom>
          <a:noFill/>
          <a:ln/>
        </p:spPr>
        <p:txBody>
          <a:bodyPr wrap="square" rtlCol="0" anchor="ctr"/>
          <a:lstStyle/>
          <a:p>
            <a:pPr marL="0" indent="0" algn="ctr">
              <a:buNone/>
            </a:pPr>
            <a:r>
              <a:rPr lang="en-US" dirty="0">
                <a:solidFill>
                  <a:srgbClr val="212121"/>
                </a:solidFill>
                <a:latin typeface="Roboto" pitchFamily="34" charset="0"/>
                <a:ea typeface="Roboto" pitchFamily="34" charset="-122"/>
                <a:cs typeface="Roboto" pitchFamily="34" charset="-120"/>
              </a:rPr>
              <a:t>Centered</a:t>
            </a:r>
            <a:endParaRPr lang="en-US" dirty="0"/>
          </a:p>
          <a:p>
            <a:pPr marL="0" indent="0" algn="ctr">
              <a:buNone/>
            </a:pPr>
            <a:r>
              <a:rPr lang="en-US" dirty="0">
                <a:solidFill>
                  <a:srgbClr val="212121"/>
                </a:solidFill>
                <a:latin typeface="Roboto" pitchFamily="34" charset="0"/>
                <a:ea typeface="Roboto" pitchFamily="34" charset="-122"/>
                <a:cs typeface="Roboto" pitchFamily="34" charset="-120"/>
              </a:rPr>
              <a:t>(65536-dim)</a:t>
            </a:r>
            <a:endParaRPr lang="en-US" dirty="0"/>
          </a:p>
        </p:txBody>
      </p:sp>
      <p:sp>
        <p:nvSpPr>
          <p:cNvPr id="46" name="Text 44"/>
          <p:cNvSpPr/>
          <p:nvPr/>
        </p:nvSpPr>
        <p:spPr>
          <a:xfrm>
            <a:off x="2103120" y="475488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47" name="Shape 45"/>
          <p:cNvSpPr/>
          <p:nvPr/>
        </p:nvSpPr>
        <p:spPr>
          <a:xfrm>
            <a:off x="2560320" y="4754880"/>
            <a:ext cx="1645920" cy="777240"/>
          </a:xfrm>
          <a:prstGeom prst="rect">
            <a:avLst/>
          </a:prstGeom>
          <a:solidFill>
            <a:srgbClr val="2E7D32"/>
          </a:solidFill>
          <a:ln w="12700">
            <a:solidFill>
              <a:srgbClr val="2E7D32"/>
            </a:solidFill>
            <a:prstDash val="solid"/>
          </a:ln>
        </p:spPr>
      </p:sp>
      <p:sp>
        <p:nvSpPr>
          <p:cNvPr id="48" name="Text 46"/>
          <p:cNvSpPr/>
          <p:nvPr/>
        </p:nvSpPr>
        <p:spPr>
          <a:xfrm>
            <a:off x="2560320" y="4754880"/>
            <a:ext cx="1645920" cy="777240"/>
          </a:xfrm>
          <a:prstGeom prst="rect">
            <a:avLst/>
          </a:prstGeom>
          <a:noFill/>
          <a:ln/>
        </p:spPr>
        <p:txBody>
          <a:bodyPr wrap="square" rtlCol="0" anchor="ctr"/>
          <a:lstStyle/>
          <a:p>
            <a:pPr marL="0" indent="0" algn="ctr">
              <a:buNone/>
            </a:pPr>
            <a:r>
              <a:rPr lang="en-US" b="1" dirty="0">
                <a:solidFill>
                  <a:srgbClr val="FFFFFF"/>
                </a:solidFill>
                <a:latin typeface="Roboto" pitchFamily="34" charset="0"/>
                <a:ea typeface="Roboto" pitchFamily="34" charset="-122"/>
                <a:cs typeface="Roboto" pitchFamily="34" charset="-120"/>
              </a:rPr>
              <a:t>Softmax</a:t>
            </a:r>
            <a:endParaRPr lang="en-US" dirty="0"/>
          </a:p>
          <a:p>
            <a:pPr marL="0" indent="0" algn="ctr">
              <a:buNone/>
            </a:pPr>
            <a:r>
              <a:rPr lang="en-US" b="1" dirty="0">
                <a:solidFill>
                  <a:srgbClr val="FFFFFF"/>
                </a:solidFill>
                <a:latin typeface="Roboto" pitchFamily="34" charset="0"/>
                <a:ea typeface="Roboto" pitchFamily="34" charset="-122"/>
                <a:cs typeface="Roboto" pitchFamily="34" charset="-120"/>
              </a:rPr>
              <a:t>(τ=0.04)</a:t>
            </a:r>
            <a:endParaRPr lang="en-US" dirty="0"/>
          </a:p>
        </p:txBody>
      </p:sp>
      <p:sp>
        <p:nvSpPr>
          <p:cNvPr id="49" name="Text 47"/>
          <p:cNvSpPr/>
          <p:nvPr/>
        </p:nvSpPr>
        <p:spPr>
          <a:xfrm>
            <a:off x="4206240" y="4754880"/>
            <a:ext cx="457200" cy="777240"/>
          </a:xfrm>
          <a:prstGeom prst="rect">
            <a:avLst/>
          </a:prstGeom>
          <a:noFill/>
          <a:ln/>
        </p:spPr>
        <p:txBody>
          <a:bodyPr wrap="square" rtlCol="0" anchor="ctr"/>
          <a:lstStyle/>
          <a:p>
            <a:pPr marL="0" indent="0" algn="ctr">
              <a:buNone/>
            </a:pPr>
            <a:r>
              <a:rPr lang="en-US" sz="4000" dirty="0">
                <a:solidFill>
                  <a:srgbClr val="BDBDBD"/>
                </a:solidFill>
                <a:latin typeface="Roboto" pitchFamily="34" charset="0"/>
                <a:ea typeface="Roboto" pitchFamily="34" charset="-122"/>
                <a:cs typeface="Roboto" pitchFamily="34" charset="-120"/>
              </a:rPr>
              <a:t>→</a:t>
            </a:r>
            <a:endParaRPr lang="en-US" sz="4000" dirty="0"/>
          </a:p>
        </p:txBody>
      </p:sp>
      <p:sp>
        <p:nvSpPr>
          <p:cNvPr id="52" name="Text 50"/>
          <p:cNvSpPr/>
          <p:nvPr/>
        </p:nvSpPr>
        <p:spPr>
          <a:xfrm>
            <a:off x="6492240" y="4754880"/>
            <a:ext cx="5303520" cy="777240"/>
          </a:xfrm>
          <a:prstGeom prst="rect">
            <a:avLst/>
          </a:prstGeom>
          <a:noFill/>
          <a:ln/>
        </p:spPr>
        <p:txBody>
          <a:bodyPr wrap="square" rtlCol="0" anchor="ctr"/>
          <a:lstStyle/>
          <a:p>
            <a:pPr marL="0" indent="0">
              <a:buNone/>
            </a:pPr>
            <a:r>
              <a:rPr lang="en-US" i="1" dirty="0">
                <a:solidFill>
                  <a:srgbClr val="2E7D32"/>
                </a:solidFill>
                <a:latin typeface="Roboto" pitchFamily="34" charset="0"/>
                <a:ea typeface="Roboto" pitchFamily="34" charset="-122"/>
                <a:cs typeface="Roboto" pitchFamily="34" charset="-120"/>
              </a:rPr>
              <a:t>τ thấp hơn → output SHARP hơn</a:t>
            </a:r>
            <a:endParaRPr lang="en-US" dirty="0"/>
          </a:p>
        </p:txBody>
      </p:sp>
      <p:sp>
        <p:nvSpPr>
          <p:cNvPr id="56" name="Text 54"/>
          <p:cNvSpPr/>
          <p:nvPr/>
        </p:nvSpPr>
        <p:spPr>
          <a:xfrm>
            <a:off x="640080" y="5787921"/>
            <a:ext cx="10908792" cy="320040"/>
          </a:xfrm>
          <a:prstGeom prst="rect">
            <a:avLst/>
          </a:prstGeom>
          <a:noFill/>
          <a:ln/>
        </p:spPr>
        <p:txBody>
          <a:bodyPr wrap="square" rtlCol="0" anchor="ctr"/>
          <a:lstStyle/>
          <a:p>
            <a:pPr marL="0" indent="0">
              <a:buNone/>
            </a:pPr>
            <a:r>
              <a:rPr lang="en-US" sz="2000" dirty="0">
                <a:solidFill>
                  <a:srgbClr val="C62828"/>
                </a:solidFill>
                <a:latin typeface="Roboto" pitchFamily="34" charset="0"/>
                <a:ea typeface="Roboto" pitchFamily="34" charset="-122"/>
                <a:cs typeface="Roboto" pitchFamily="34" charset="-120"/>
              </a:rPr>
              <a:t>Training: KHÔNG dùng gradient. Dùng EMA copy từ Student</a:t>
            </a:r>
            <a:endParaRPr lang="en-US" sz="2000" dirty="0"/>
          </a:p>
        </p:txBody>
      </p:sp>
      <p:sp>
        <p:nvSpPr>
          <p:cNvPr id="57" name="Shape 55"/>
          <p:cNvSpPr/>
          <p:nvPr/>
        </p:nvSpPr>
        <p:spPr>
          <a:xfrm>
            <a:off x="457200" y="6537960"/>
            <a:ext cx="2209190" cy="228600"/>
          </a:xfrm>
          <a:prstGeom prst="rect">
            <a:avLst/>
          </a:prstGeom>
          <a:solidFill>
            <a:srgbClr val="BDBDBD"/>
          </a:solidFill>
          <a:ln/>
        </p:spPr>
      </p:sp>
      <p:sp>
        <p:nvSpPr>
          <p:cNvPr id="58" name="Text 56"/>
          <p:cNvSpPr/>
          <p:nvPr/>
        </p:nvSpPr>
        <p:spPr>
          <a:xfrm>
            <a:off x="457200" y="6537960"/>
            <a:ext cx="2209190" cy="228600"/>
          </a:xfrm>
          <a:prstGeom prst="rect">
            <a:avLst/>
          </a:prstGeom>
          <a:noFill/>
          <a:ln/>
        </p:spPr>
        <p:txBody>
          <a:bodyPr wrap="square" rtlCol="0" anchor="ctr"/>
          <a:lstStyle/>
          <a:p>
            <a:pPr marL="0" indent="0" algn="ctr">
              <a:buNone/>
            </a:pPr>
            <a:r>
              <a:rPr lang="en-US" dirty="0">
                <a:solidFill>
                  <a:srgbClr val="424242"/>
                </a:solidFill>
                <a:latin typeface="Roboto" pitchFamily="34" charset="0"/>
                <a:ea typeface="Roboto" pitchFamily="34" charset="-122"/>
                <a:cs typeface="Roboto" pitchFamily="34" charset="-120"/>
              </a:rPr>
              <a:t>Hook</a:t>
            </a:r>
            <a:endParaRPr lang="en-US" dirty="0"/>
          </a:p>
        </p:txBody>
      </p:sp>
      <p:sp>
        <p:nvSpPr>
          <p:cNvPr id="59" name="Shape 57"/>
          <p:cNvSpPr/>
          <p:nvPr/>
        </p:nvSpPr>
        <p:spPr>
          <a:xfrm>
            <a:off x="2712110" y="6537960"/>
            <a:ext cx="2209190" cy="228600"/>
          </a:xfrm>
          <a:prstGeom prst="rect">
            <a:avLst/>
          </a:prstGeom>
          <a:solidFill>
            <a:srgbClr val="C62828"/>
          </a:solidFill>
          <a:ln/>
        </p:spPr>
      </p:sp>
      <p:sp>
        <p:nvSpPr>
          <p:cNvPr id="60" name="Text 58"/>
          <p:cNvSpPr/>
          <p:nvPr/>
        </p:nvSpPr>
        <p:spPr>
          <a:xfrm>
            <a:off x="2712110" y="6537960"/>
            <a:ext cx="2209190" cy="228600"/>
          </a:xfrm>
          <a:prstGeom prst="rect">
            <a:avLst/>
          </a:prstGeom>
          <a:noFill/>
          <a:ln/>
        </p:spPr>
        <p:txBody>
          <a:bodyPr wrap="square" rtlCol="0" anchor="ctr"/>
          <a:lstStyle/>
          <a:p>
            <a:pPr marL="0" indent="0" algn="ctr">
              <a:buNone/>
            </a:pPr>
            <a:r>
              <a:rPr lang="en-US" dirty="0">
                <a:solidFill>
                  <a:srgbClr val="FFFFFF"/>
                </a:solidFill>
                <a:latin typeface="Roboto" pitchFamily="34" charset="0"/>
                <a:ea typeface="Roboto" pitchFamily="34" charset="-122"/>
                <a:cs typeface="Roboto" pitchFamily="34" charset="-120"/>
              </a:rPr>
              <a:t>DINOv1</a:t>
            </a:r>
            <a:endParaRPr lang="en-US" dirty="0"/>
          </a:p>
        </p:txBody>
      </p:sp>
      <p:sp>
        <p:nvSpPr>
          <p:cNvPr id="61" name="Shape 59"/>
          <p:cNvSpPr/>
          <p:nvPr/>
        </p:nvSpPr>
        <p:spPr>
          <a:xfrm>
            <a:off x="4967021" y="6537960"/>
            <a:ext cx="2209190" cy="228600"/>
          </a:xfrm>
          <a:prstGeom prst="rect">
            <a:avLst/>
          </a:prstGeom>
          <a:solidFill>
            <a:srgbClr val="BDBDBD"/>
          </a:solidFill>
          <a:ln/>
        </p:spPr>
      </p:sp>
      <p:sp>
        <p:nvSpPr>
          <p:cNvPr id="62" name="Text 60"/>
          <p:cNvSpPr/>
          <p:nvPr/>
        </p:nvSpPr>
        <p:spPr>
          <a:xfrm>
            <a:off x="4967021" y="6537960"/>
            <a:ext cx="2209190" cy="228600"/>
          </a:xfrm>
          <a:prstGeom prst="rect">
            <a:avLst/>
          </a:prstGeom>
          <a:noFill/>
          <a:ln/>
        </p:spPr>
        <p:txBody>
          <a:bodyPr wrap="square" rtlCol="0" anchor="ctr"/>
          <a:lstStyle/>
          <a:p>
            <a:pPr marL="0" indent="0" algn="ctr">
              <a:buNone/>
            </a:pPr>
            <a:r>
              <a:rPr lang="en-US" dirty="0">
                <a:solidFill>
                  <a:srgbClr val="424242"/>
                </a:solidFill>
                <a:latin typeface="Roboto" pitchFamily="34" charset="0"/>
                <a:ea typeface="Roboto" pitchFamily="34" charset="-122"/>
                <a:cs typeface="Roboto" pitchFamily="34" charset="-120"/>
              </a:rPr>
              <a:t>DINOv2</a:t>
            </a:r>
            <a:endParaRPr lang="en-US" dirty="0"/>
          </a:p>
        </p:txBody>
      </p:sp>
      <p:sp>
        <p:nvSpPr>
          <p:cNvPr id="63" name="Shape 61"/>
          <p:cNvSpPr/>
          <p:nvPr/>
        </p:nvSpPr>
        <p:spPr>
          <a:xfrm>
            <a:off x="7221931" y="6537960"/>
            <a:ext cx="2209190" cy="228600"/>
          </a:xfrm>
          <a:prstGeom prst="rect">
            <a:avLst/>
          </a:prstGeom>
          <a:solidFill>
            <a:srgbClr val="BDBDBD"/>
          </a:solidFill>
          <a:ln/>
        </p:spPr>
      </p:sp>
      <p:sp>
        <p:nvSpPr>
          <p:cNvPr id="64" name="Text 62"/>
          <p:cNvSpPr/>
          <p:nvPr/>
        </p:nvSpPr>
        <p:spPr>
          <a:xfrm>
            <a:off x="7221931" y="6537960"/>
            <a:ext cx="2209190" cy="228600"/>
          </a:xfrm>
          <a:prstGeom prst="rect">
            <a:avLst/>
          </a:prstGeom>
          <a:noFill/>
          <a:ln/>
        </p:spPr>
        <p:txBody>
          <a:bodyPr wrap="square" rtlCol="0" anchor="ctr"/>
          <a:lstStyle/>
          <a:p>
            <a:pPr marL="0" indent="0" algn="ctr">
              <a:buNone/>
            </a:pPr>
            <a:r>
              <a:rPr lang="en-US" dirty="0">
                <a:solidFill>
                  <a:srgbClr val="424242"/>
                </a:solidFill>
                <a:latin typeface="Roboto" pitchFamily="34" charset="0"/>
                <a:ea typeface="Roboto" pitchFamily="34" charset="-122"/>
                <a:cs typeface="Roboto" pitchFamily="34" charset="-120"/>
              </a:rPr>
              <a:t>DINOv3</a:t>
            </a:r>
            <a:endParaRPr lang="en-US" dirty="0"/>
          </a:p>
        </p:txBody>
      </p:sp>
      <p:sp>
        <p:nvSpPr>
          <p:cNvPr id="65" name="Shape 63"/>
          <p:cNvSpPr/>
          <p:nvPr/>
        </p:nvSpPr>
        <p:spPr>
          <a:xfrm>
            <a:off x="9476842" y="6537960"/>
            <a:ext cx="2209190" cy="228600"/>
          </a:xfrm>
          <a:prstGeom prst="rect">
            <a:avLst/>
          </a:prstGeom>
          <a:solidFill>
            <a:srgbClr val="BDBDBD"/>
          </a:solidFill>
          <a:ln/>
        </p:spPr>
      </p:sp>
      <p:sp>
        <p:nvSpPr>
          <p:cNvPr id="66" name="Text 64"/>
          <p:cNvSpPr/>
          <p:nvPr/>
        </p:nvSpPr>
        <p:spPr>
          <a:xfrm>
            <a:off x="9476842" y="6537960"/>
            <a:ext cx="2209190" cy="228600"/>
          </a:xfrm>
          <a:prstGeom prst="rect">
            <a:avLst/>
          </a:prstGeom>
          <a:noFill/>
          <a:ln/>
        </p:spPr>
        <p:txBody>
          <a:bodyPr wrap="square" rtlCol="0" anchor="ctr"/>
          <a:lstStyle/>
          <a:p>
            <a:pPr marL="0" indent="0" algn="ctr">
              <a:buNone/>
            </a:pPr>
            <a:r>
              <a:rPr lang="en-US" dirty="0">
                <a:solidFill>
                  <a:srgbClr val="424242"/>
                </a:solidFill>
                <a:latin typeface="Roboto" pitchFamily="34" charset="0"/>
                <a:ea typeface="Roboto" pitchFamily="34" charset="-122"/>
                <a:cs typeface="Roboto" pitchFamily="34" charset="-120"/>
              </a:rPr>
              <a:t>Tổng hợp</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r>
              <a:rPr lang="en-US" sz="3200" b="1" dirty="0">
                <a:solidFill>
                  <a:srgbClr val="FFFFFF"/>
                </a:solidFill>
                <a:latin typeface="Roboto" pitchFamily="34" charset="0"/>
                <a:ea typeface="Roboto" pitchFamily="34" charset="-122"/>
                <a:cs typeface="Roboto" pitchFamily="34" charset="-120"/>
              </a:rPr>
              <a:t>Exponential Moving Average - EMA</a:t>
            </a:r>
            <a:endParaRPr lang="en-US" sz="3200" dirty="0"/>
          </a:p>
        </p:txBody>
      </p:sp>
      <p:sp>
        <p:nvSpPr>
          <p:cNvPr id="4" name="Shape 2"/>
          <p:cNvSpPr/>
          <p:nvPr/>
        </p:nvSpPr>
        <p:spPr>
          <a:xfrm>
            <a:off x="457200" y="1371600"/>
            <a:ext cx="11274552" cy="731520"/>
          </a:xfrm>
          <a:prstGeom prst="rect">
            <a:avLst/>
          </a:prstGeom>
          <a:solidFill>
            <a:srgbClr val="F5F5F5"/>
          </a:solidFill>
          <a:ln w="12700">
            <a:solidFill>
              <a:srgbClr val="1565C0"/>
            </a:solidFill>
            <a:prstDash val="solid"/>
          </a:ln>
        </p:spPr>
      </p:sp>
      <p:sp>
        <p:nvSpPr>
          <p:cNvPr id="5" name="Text 3"/>
          <p:cNvSpPr/>
          <p:nvPr/>
        </p:nvSpPr>
        <p:spPr>
          <a:xfrm>
            <a:off x="640080" y="1463040"/>
            <a:ext cx="10908792" cy="548640"/>
          </a:xfrm>
          <a:prstGeom prst="rect">
            <a:avLst/>
          </a:prstGeom>
          <a:noFill/>
          <a:ln/>
        </p:spPr>
        <p:txBody>
          <a:bodyPr wrap="square" rtlCol="0" anchor="ctr"/>
          <a:lstStyle/>
          <a:p>
            <a:pPr marL="0" indent="0">
              <a:buNone/>
            </a:pPr>
            <a:r>
              <a:rPr lang="en-US" sz="2400" dirty="0">
                <a:solidFill>
                  <a:srgbClr val="212121"/>
                </a:solidFill>
                <a:latin typeface="Consolas" pitchFamily="34" charset="0"/>
                <a:ea typeface="Consolas" pitchFamily="34" charset="-122"/>
                <a:cs typeface="Consolas" pitchFamily="34" charset="-120"/>
              </a:rPr>
              <a:t>θ_t ← 0.996 × θ_t + 0.004 × θ_s</a:t>
            </a:r>
            <a:endParaRPr lang="en-US" sz="2400" dirty="0"/>
          </a:p>
        </p:txBody>
      </p:sp>
      <p:sp>
        <p:nvSpPr>
          <p:cNvPr id="6" name="Text 4"/>
          <p:cNvSpPr/>
          <p:nvPr/>
        </p:nvSpPr>
        <p:spPr>
          <a:xfrm>
            <a:off x="457200" y="2286000"/>
            <a:ext cx="11274552" cy="457200"/>
          </a:xfrm>
          <a:prstGeom prst="rect">
            <a:avLst/>
          </a:prstGeom>
          <a:noFill/>
          <a:ln/>
        </p:spPr>
        <p:txBody>
          <a:bodyPr wrap="square" rtlCol="0" anchor="ctr"/>
          <a:lstStyle/>
          <a:p>
            <a:pPr marL="0" indent="0" algn="ctr">
              <a:buNone/>
            </a:pPr>
            <a:r>
              <a:rPr lang="en-US" sz="3200" b="1" dirty="0">
                <a:solidFill>
                  <a:srgbClr val="212121"/>
                </a:solidFill>
                <a:latin typeface="Roboto" pitchFamily="34" charset="0"/>
                <a:ea typeface="Roboto" pitchFamily="34" charset="-122"/>
                <a:cs typeface="Roboto" pitchFamily="34" charset="-120"/>
              </a:rPr>
              <a:t>Teacher cập </a:t>
            </a:r>
            <a:r>
              <a:rPr lang="en-US" sz="3200" b="1" dirty="0" err="1">
                <a:solidFill>
                  <a:srgbClr val="212121"/>
                </a:solidFill>
                <a:latin typeface="Roboto" pitchFamily="34" charset="0"/>
                <a:ea typeface="Roboto" pitchFamily="34" charset="-122"/>
                <a:cs typeface="Roboto" pitchFamily="34" charset="-120"/>
              </a:rPr>
              <a:t>nhật</a:t>
            </a:r>
            <a:r>
              <a:rPr lang="en-US" sz="3200" b="1" dirty="0">
                <a:solidFill>
                  <a:srgbClr val="212121"/>
                </a:solidFill>
                <a:latin typeface="Roboto" pitchFamily="34" charset="0"/>
                <a:ea typeface="Roboto" pitchFamily="34" charset="-122"/>
                <a:cs typeface="Roboto" pitchFamily="34" charset="-120"/>
              </a:rPr>
              <a:t> CHẬM từ Student</a:t>
            </a:r>
            <a:endParaRPr lang="en-US" sz="3200" dirty="0"/>
          </a:p>
        </p:txBody>
      </p:sp>
      <p:sp>
        <p:nvSpPr>
          <p:cNvPr id="8" name="Text 6"/>
          <p:cNvSpPr/>
          <p:nvPr/>
        </p:nvSpPr>
        <p:spPr>
          <a:xfrm>
            <a:off x="640080" y="3012440"/>
            <a:ext cx="4937760" cy="365760"/>
          </a:xfrm>
          <a:prstGeom prst="rect">
            <a:avLst/>
          </a:prstGeom>
          <a:noFill/>
          <a:ln/>
        </p:spPr>
        <p:txBody>
          <a:bodyPr wrap="square" rtlCol="0" anchor="ctr"/>
          <a:lstStyle/>
          <a:p>
            <a:pPr marL="0" indent="0">
              <a:buNone/>
            </a:pPr>
            <a:r>
              <a:rPr lang="en-US" sz="2800" b="1" dirty="0">
                <a:solidFill>
                  <a:srgbClr val="1565C0"/>
                </a:solidFill>
                <a:latin typeface="Roboto" pitchFamily="34" charset="0"/>
                <a:ea typeface="Roboto" pitchFamily="34" charset="-122"/>
              </a:rPr>
              <a:t>Why</a:t>
            </a:r>
            <a:endParaRPr lang="en-US" sz="2800" dirty="0"/>
          </a:p>
        </p:txBody>
      </p:sp>
      <p:sp>
        <p:nvSpPr>
          <p:cNvPr id="9" name="Text 7"/>
          <p:cNvSpPr/>
          <p:nvPr/>
        </p:nvSpPr>
        <p:spPr>
          <a:xfrm>
            <a:off x="640080" y="3474720"/>
            <a:ext cx="5166360" cy="1920240"/>
          </a:xfrm>
          <a:prstGeom prst="rect">
            <a:avLst/>
          </a:prstGeom>
          <a:noFill/>
          <a:ln/>
        </p:spPr>
        <p:txBody>
          <a:bodyPr wrap="square" rtlCol="0" anchor="ctr"/>
          <a:lstStyle/>
          <a:p>
            <a:r>
              <a:rPr lang="en-US" sz="2400" dirty="0">
                <a:solidFill>
                  <a:srgbClr val="212121"/>
                </a:solidFill>
                <a:latin typeface="Roboto" pitchFamily="34" charset="0"/>
                <a:ea typeface="Roboto" pitchFamily="34" charset="-122"/>
                <a:cs typeface="Roboto" pitchFamily="34" charset="-120"/>
              </a:rPr>
              <a:t>• Teacher ≠ Student → </a:t>
            </a:r>
            <a:r>
              <a:rPr lang="en-US" sz="2400" dirty="0" err="1">
                <a:solidFill>
                  <a:srgbClr val="212121"/>
                </a:solidFill>
                <a:latin typeface="Roboto" pitchFamily="34" charset="0"/>
                <a:ea typeface="Roboto" pitchFamily="34" charset="-122"/>
                <a:cs typeface="Roboto" pitchFamily="34" charset="-120"/>
              </a:rPr>
              <a:t>kiến</a:t>
            </a:r>
            <a:r>
              <a:rPr lang="en-US" sz="2400" dirty="0">
                <a:solidFill>
                  <a:srgbClr val="212121"/>
                </a:solidFill>
                <a:latin typeface="Roboto" pitchFamily="34" charset="0"/>
                <a:ea typeface="Roboto" pitchFamily="34" charset="-122"/>
                <a:cs typeface="Roboto" pitchFamily="34" charset="-120"/>
              </a:rPr>
              <a:t> trực </a:t>
            </a:r>
            <a:r>
              <a:rPr lang="en-US" sz="2400" dirty="0" err="1">
                <a:solidFill>
                  <a:srgbClr val="212121"/>
                </a:solidFill>
                <a:latin typeface="Roboto" pitchFamily="34" charset="0"/>
                <a:ea typeface="Roboto" pitchFamily="34" charset="-122"/>
                <a:cs typeface="Roboto" pitchFamily="34" charset="-120"/>
              </a:rPr>
              <a:t>bất</a:t>
            </a:r>
            <a:r>
              <a:rPr lang="en-US" sz="2400" dirty="0">
                <a:solidFill>
                  <a:srgbClr val="212121"/>
                </a:solidFill>
                <a:latin typeface="Roboto" pitchFamily="34" charset="0"/>
                <a:ea typeface="Roboto" pitchFamily="34" charset="-122"/>
                <a:cs typeface="Roboto" pitchFamily="34" charset="-120"/>
              </a:rPr>
              <a:t> </a:t>
            </a:r>
            <a:r>
              <a:rPr lang="en-US" sz="2400" dirty="0" err="1">
                <a:solidFill>
                  <a:srgbClr val="212121"/>
                </a:solidFill>
                <a:latin typeface="Roboto" pitchFamily="34" charset="0"/>
                <a:ea typeface="Roboto" pitchFamily="34" charset="-122"/>
                <a:cs typeface="Roboto" pitchFamily="34" charset="-120"/>
              </a:rPr>
              <a:t>đối</a:t>
            </a:r>
            <a:r>
              <a:rPr lang="en-US" sz="2400" dirty="0">
                <a:solidFill>
                  <a:srgbClr val="212121"/>
                </a:solidFill>
                <a:latin typeface="Roboto" pitchFamily="34" charset="0"/>
                <a:ea typeface="Roboto" pitchFamily="34" charset="-122"/>
                <a:cs typeface="Roboto" pitchFamily="34" charset="-120"/>
              </a:rPr>
              <a:t> </a:t>
            </a:r>
            <a:r>
              <a:rPr lang="en-US" sz="2400" dirty="0" err="1">
                <a:solidFill>
                  <a:srgbClr val="212121"/>
                </a:solidFill>
                <a:latin typeface="Roboto" pitchFamily="34" charset="0"/>
                <a:ea typeface="Roboto" pitchFamily="34" charset="-122"/>
                <a:cs typeface="Roboto" pitchFamily="34" charset="-120"/>
              </a:rPr>
              <a:t>xứng</a:t>
            </a:r>
            <a:r>
              <a:rPr lang="en-US" sz="2400" dirty="0">
                <a:solidFill>
                  <a:srgbClr val="212121"/>
                </a:solidFill>
                <a:latin typeface="Roboto" pitchFamily="34" charset="0"/>
                <a:ea typeface="Roboto" pitchFamily="34" charset="-122"/>
                <a:cs typeface="Roboto" pitchFamily="34" charset="-120"/>
              </a:rPr>
              <a:t>→ không “thông </a:t>
            </a:r>
            <a:r>
              <a:rPr lang="en-US" sz="2400" dirty="0" err="1">
                <a:solidFill>
                  <a:srgbClr val="212121"/>
                </a:solidFill>
                <a:latin typeface="Roboto" pitchFamily="34" charset="0"/>
                <a:ea typeface="Roboto" pitchFamily="34" charset="-122"/>
                <a:cs typeface="Roboto" pitchFamily="34" charset="-120"/>
              </a:rPr>
              <a:t>đồng</a:t>
            </a:r>
            <a:r>
              <a:rPr lang="en-US" sz="2400" dirty="0">
                <a:solidFill>
                  <a:srgbClr val="212121"/>
                </a:solidFill>
                <a:latin typeface="Roboto" pitchFamily="34" charset="0"/>
                <a:ea typeface="Roboto" pitchFamily="34" charset="-122"/>
                <a:cs typeface="Roboto" pitchFamily="34" charset="-120"/>
              </a:rPr>
              <a:t>”</a:t>
            </a:r>
            <a:endParaRPr lang="en-US" sz="2400" dirty="0"/>
          </a:p>
          <a:p>
            <a:pPr marL="0" indent="0">
              <a:buNone/>
            </a:pPr>
            <a:r>
              <a:rPr lang="en-US" sz="2400" dirty="0">
                <a:solidFill>
                  <a:srgbClr val="212121"/>
                </a:solidFill>
                <a:latin typeface="Roboto" pitchFamily="34" charset="0"/>
                <a:ea typeface="Roboto" pitchFamily="34" charset="-122"/>
                <a:cs typeface="Roboto" pitchFamily="34" charset="-120"/>
              </a:rPr>
              <a:t>• Teacher = trung bình nhiều versions của student</a:t>
            </a:r>
            <a:endParaRPr lang="en-US" sz="2400" dirty="0"/>
          </a:p>
          <a:p>
            <a:pPr marL="0" indent="0">
              <a:buNone/>
            </a:pPr>
            <a:r>
              <a:rPr lang="en-US" sz="2400" dirty="0">
                <a:solidFill>
                  <a:srgbClr val="212121"/>
                </a:solidFill>
                <a:latin typeface="Roboto" pitchFamily="34" charset="0"/>
                <a:ea typeface="Roboto" pitchFamily="34" charset="-122"/>
                <a:cs typeface="Roboto" pitchFamily="34" charset="-120"/>
              </a:rPr>
              <a:t>• Teacher luôn giỏi hơn Student!</a:t>
            </a:r>
            <a:endParaRPr lang="en-US" sz="2400" dirty="0"/>
          </a:p>
        </p:txBody>
      </p:sp>
      <p:sp>
        <p:nvSpPr>
          <p:cNvPr id="11" name="Text 9"/>
          <p:cNvSpPr/>
          <p:nvPr/>
        </p:nvSpPr>
        <p:spPr>
          <a:xfrm>
            <a:off x="6217920" y="3063240"/>
            <a:ext cx="5303520" cy="365760"/>
          </a:xfrm>
          <a:prstGeom prst="rect">
            <a:avLst/>
          </a:prstGeom>
          <a:noFill/>
          <a:ln/>
        </p:spPr>
        <p:txBody>
          <a:bodyPr wrap="square" rtlCol="0" anchor="ctr"/>
          <a:lstStyle/>
          <a:p>
            <a:pPr marL="0" indent="0">
              <a:buNone/>
            </a:pPr>
            <a:r>
              <a:rPr lang="en-US" sz="2400" b="1" dirty="0">
                <a:solidFill>
                  <a:srgbClr val="1565C0"/>
                </a:solidFill>
                <a:latin typeface="Roboto" pitchFamily="34" charset="0"/>
                <a:ea typeface="Roboto" pitchFamily="34" charset="-122"/>
                <a:cs typeface="Roboto" pitchFamily="34" charset="-120"/>
              </a:rPr>
              <a:t>Paper đã thử các phương pháp khác:</a:t>
            </a:r>
            <a:endParaRPr lang="en-US" sz="2400" dirty="0"/>
          </a:p>
        </p:txBody>
      </p:sp>
      <p:sp>
        <p:nvSpPr>
          <p:cNvPr id="13" name="Shape 10"/>
          <p:cNvSpPr/>
          <p:nvPr/>
        </p:nvSpPr>
        <p:spPr>
          <a:xfrm>
            <a:off x="457200" y="6537960"/>
            <a:ext cx="2209190" cy="228600"/>
          </a:xfrm>
          <a:prstGeom prst="rect">
            <a:avLst/>
          </a:prstGeom>
          <a:solidFill>
            <a:srgbClr val="BDBDBD"/>
          </a:solidFill>
          <a:ln/>
        </p:spPr>
      </p:sp>
      <p:sp>
        <p:nvSpPr>
          <p:cNvPr id="14" name="Text 11"/>
          <p:cNvSpPr/>
          <p:nvPr/>
        </p:nvSpPr>
        <p:spPr>
          <a:xfrm>
            <a:off x="457200" y="6537960"/>
            <a:ext cx="2209190" cy="228600"/>
          </a:xfrm>
          <a:prstGeom prst="rect">
            <a:avLst/>
          </a:prstGeom>
          <a:noFill/>
          <a:ln/>
        </p:spPr>
        <p:txBody>
          <a:bodyPr wrap="square" rtlCol="0" anchor="ctr"/>
          <a:lstStyle/>
          <a:p>
            <a:pPr marL="0" indent="0" algn="ctr">
              <a:buNone/>
            </a:pPr>
            <a:r>
              <a:rPr lang="en-US" sz="1200" dirty="0">
                <a:solidFill>
                  <a:srgbClr val="424242"/>
                </a:solidFill>
                <a:latin typeface="Roboto" pitchFamily="34" charset="0"/>
                <a:ea typeface="Roboto" pitchFamily="34" charset="-122"/>
                <a:cs typeface="Roboto" pitchFamily="34" charset="-120"/>
              </a:rPr>
              <a:t>Hook</a:t>
            </a:r>
            <a:endParaRPr lang="en-US" sz="1200" dirty="0"/>
          </a:p>
        </p:txBody>
      </p:sp>
      <p:sp>
        <p:nvSpPr>
          <p:cNvPr id="15" name="Shape 12"/>
          <p:cNvSpPr/>
          <p:nvPr/>
        </p:nvSpPr>
        <p:spPr>
          <a:xfrm>
            <a:off x="2712110" y="6537960"/>
            <a:ext cx="2209190" cy="228600"/>
          </a:xfrm>
          <a:prstGeom prst="rect">
            <a:avLst/>
          </a:prstGeom>
          <a:solidFill>
            <a:srgbClr val="C62828"/>
          </a:solidFill>
          <a:ln/>
        </p:spPr>
      </p:sp>
      <p:sp>
        <p:nvSpPr>
          <p:cNvPr id="16" name="Text 13"/>
          <p:cNvSpPr/>
          <p:nvPr/>
        </p:nvSpPr>
        <p:spPr>
          <a:xfrm>
            <a:off x="2712110" y="6537960"/>
            <a:ext cx="2209190" cy="228600"/>
          </a:xfrm>
          <a:prstGeom prst="rect">
            <a:avLst/>
          </a:prstGeom>
          <a:noFill/>
          <a:ln/>
        </p:spPr>
        <p:txBody>
          <a:bodyPr wrap="square" rtlCol="0" anchor="ctr"/>
          <a:lstStyle/>
          <a:p>
            <a:pPr marL="0" indent="0" algn="ctr">
              <a:buNone/>
            </a:pPr>
            <a:r>
              <a:rPr lang="en-US" sz="1200" dirty="0">
                <a:solidFill>
                  <a:srgbClr val="FFFFFF"/>
                </a:solidFill>
                <a:latin typeface="Roboto" pitchFamily="34" charset="0"/>
                <a:ea typeface="Roboto" pitchFamily="34" charset="-122"/>
                <a:cs typeface="Roboto" pitchFamily="34" charset="-120"/>
              </a:rPr>
              <a:t>DINOv1</a:t>
            </a:r>
            <a:endParaRPr lang="en-US" sz="1200" dirty="0"/>
          </a:p>
        </p:txBody>
      </p:sp>
      <p:sp>
        <p:nvSpPr>
          <p:cNvPr id="17" name="Shape 14"/>
          <p:cNvSpPr/>
          <p:nvPr/>
        </p:nvSpPr>
        <p:spPr>
          <a:xfrm>
            <a:off x="4967021" y="6537960"/>
            <a:ext cx="2209190" cy="228600"/>
          </a:xfrm>
          <a:prstGeom prst="rect">
            <a:avLst/>
          </a:prstGeom>
          <a:solidFill>
            <a:srgbClr val="BDBDBD"/>
          </a:solidFill>
          <a:ln/>
        </p:spPr>
      </p:sp>
      <p:sp>
        <p:nvSpPr>
          <p:cNvPr id="18" name="Text 15"/>
          <p:cNvSpPr/>
          <p:nvPr/>
        </p:nvSpPr>
        <p:spPr>
          <a:xfrm>
            <a:off x="4967021" y="6537960"/>
            <a:ext cx="2209190" cy="228600"/>
          </a:xfrm>
          <a:prstGeom prst="rect">
            <a:avLst/>
          </a:prstGeom>
          <a:noFill/>
          <a:ln/>
        </p:spPr>
        <p:txBody>
          <a:bodyPr wrap="square" rtlCol="0" anchor="ctr"/>
          <a:lstStyle/>
          <a:p>
            <a:pPr marL="0" indent="0" algn="ctr">
              <a:buNone/>
            </a:pPr>
            <a:r>
              <a:rPr lang="en-US" sz="1200" dirty="0">
                <a:solidFill>
                  <a:srgbClr val="424242"/>
                </a:solidFill>
                <a:latin typeface="Roboto" pitchFamily="34" charset="0"/>
                <a:ea typeface="Roboto" pitchFamily="34" charset="-122"/>
                <a:cs typeface="Roboto" pitchFamily="34" charset="-120"/>
              </a:rPr>
              <a:t>DINOv2</a:t>
            </a:r>
            <a:endParaRPr lang="en-US" sz="1200" dirty="0"/>
          </a:p>
        </p:txBody>
      </p:sp>
      <p:sp>
        <p:nvSpPr>
          <p:cNvPr id="19" name="Shape 16"/>
          <p:cNvSpPr/>
          <p:nvPr/>
        </p:nvSpPr>
        <p:spPr>
          <a:xfrm>
            <a:off x="7221931" y="6537960"/>
            <a:ext cx="2209190" cy="228600"/>
          </a:xfrm>
          <a:prstGeom prst="rect">
            <a:avLst/>
          </a:prstGeom>
          <a:solidFill>
            <a:srgbClr val="BDBDBD"/>
          </a:solidFill>
          <a:ln/>
        </p:spPr>
      </p:sp>
      <p:sp>
        <p:nvSpPr>
          <p:cNvPr id="20" name="Text 17"/>
          <p:cNvSpPr/>
          <p:nvPr/>
        </p:nvSpPr>
        <p:spPr>
          <a:xfrm>
            <a:off x="7221931" y="6537960"/>
            <a:ext cx="2209190" cy="228600"/>
          </a:xfrm>
          <a:prstGeom prst="rect">
            <a:avLst/>
          </a:prstGeom>
          <a:noFill/>
          <a:ln/>
        </p:spPr>
        <p:txBody>
          <a:bodyPr wrap="square" rtlCol="0" anchor="ctr"/>
          <a:lstStyle/>
          <a:p>
            <a:pPr marL="0" indent="0" algn="ctr">
              <a:buNone/>
            </a:pPr>
            <a:r>
              <a:rPr lang="en-US" sz="1200" dirty="0">
                <a:solidFill>
                  <a:srgbClr val="424242"/>
                </a:solidFill>
                <a:latin typeface="Roboto" pitchFamily="34" charset="0"/>
                <a:ea typeface="Roboto" pitchFamily="34" charset="-122"/>
                <a:cs typeface="Roboto" pitchFamily="34" charset="-120"/>
              </a:rPr>
              <a:t>DINOv3</a:t>
            </a:r>
            <a:endParaRPr lang="en-US" sz="1200" dirty="0"/>
          </a:p>
        </p:txBody>
      </p:sp>
      <p:sp>
        <p:nvSpPr>
          <p:cNvPr id="21" name="Shape 18"/>
          <p:cNvSpPr/>
          <p:nvPr/>
        </p:nvSpPr>
        <p:spPr>
          <a:xfrm>
            <a:off x="9476842" y="6537960"/>
            <a:ext cx="2209190" cy="228600"/>
          </a:xfrm>
          <a:prstGeom prst="rect">
            <a:avLst/>
          </a:prstGeom>
          <a:solidFill>
            <a:srgbClr val="BDBDBD"/>
          </a:solidFill>
          <a:ln/>
        </p:spPr>
      </p:sp>
      <p:sp>
        <p:nvSpPr>
          <p:cNvPr id="22" name="Text 19"/>
          <p:cNvSpPr/>
          <p:nvPr/>
        </p:nvSpPr>
        <p:spPr>
          <a:xfrm>
            <a:off x="9476842" y="6537960"/>
            <a:ext cx="2209190" cy="228600"/>
          </a:xfrm>
          <a:prstGeom prst="rect">
            <a:avLst/>
          </a:prstGeom>
          <a:noFill/>
          <a:ln/>
        </p:spPr>
        <p:txBody>
          <a:bodyPr wrap="square" rtlCol="0" anchor="ctr"/>
          <a:lstStyle/>
          <a:p>
            <a:pPr marL="0" indent="0" algn="ctr">
              <a:buNone/>
            </a:pPr>
            <a:r>
              <a:rPr lang="en-US" sz="1200" dirty="0">
                <a:solidFill>
                  <a:srgbClr val="424242"/>
                </a:solidFill>
                <a:latin typeface="Roboto" pitchFamily="34" charset="0"/>
                <a:ea typeface="Roboto" pitchFamily="34" charset="-122"/>
                <a:cs typeface="Roboto" pitchFamily="34" charset="-120"/>
              </a:rPr>
              <a:t>Tổng hợp</a:t>
            </a:r>
            <a:endParaRPr lang="en-US" sz="1200" dirty="0"/>
          </a:p>
        </p:txBody>
      </p:sp>
      <p:pic>
        <p:nvPicPr>
          <p:cNvPr id="23" name="Picture 22">
            <a:extLst>
              <a:ext uri="{FF2B5EF4-FFF2-40B4-BE49-F238E27FC236}">
                <a16:creationId xmlns:a16="http://schemas.microsoft.com/office/drawing/2014/main" id="{D3211BEC-F388-4B4B-B9BE-0843526825ED}"/>
              </a:ext>
            </a:extLst>
          </p:cNvPr>
          <p:cNvPicPr>
            <a:picLocks noChangeAspect="1"/>
          </p:cNvPicPr>
          <p:nvPr/>
        </p:nvPicPr>
        <p:blipFill>
          <a:blip r:embed="rId3"/>
          <a:stretch>
            <a:fillRect/>
          </a:stretch>
        </p:blipFill>
        <p:spPr>
          <a:xfrm>
            <a:off x="7069868" y="3397436"/>
            <a:ext cx="3496531" cy="2846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C62828"/>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Collapse</a:t>
            </a:r>
            <a:endParaRPr lang="en-US" sz="3200" dirty="0"/>
          </a:p>
        </p:txBody>
      </p:sp>
      <p:sp>
        <p:nvSpPr>
          <p:cNvPr id="9" name="Text 7"/>
          <p:cNvSpPr/>
          <p:nvPr/>
        </p:nvSpPr>
        <p:spPr>
          <a:xfrm>
            <a:off x="457200" y="4910800"/>
            <a:ext cx="11274552" cy="457200"/>
          </a:xfrm>
          <a:prstGeom prst="rect">
            <a:avLst/>
          </a:prstGeom>
          <a:noFill/>
          <a:ln/>
        </p:spPr>
        <p:txBody>
          <a:bodyPr wrap="square" rtlCol="0" anchor="ctr"/>
          <a:lstStyle/>
          <a:p>
            <a:pPr marL="0" indent="0">
              <a:buNone/>
            </a:pPr>
            <a:r>
              <a:rPr lang="en-US" sz="2000" b="1" dirty="0">
                <a:solidFill>
                  <a:srgbClr val="212121"/>
                </a:solidFill>
                <a:latin typeface="Roboto" pitchFamily="34" charset="0"/>
                <a:ea typeface="Roboto" pitchFamily="34" charset="-122"/>
                <a:cs typeface="Roboto" pitchFamily="34" charset="-120"/>
              </a:rPr>
              <a:t>2 loại collapse:</a:t>
            </a:r>
            <a:endParaRPr lang="en-US" sz="2000" dirty="0"/>
          </a:p>
        </p:txBody>
      </p:sp>
      <p:sp>
        <p:nvSpPr>
          <p:cNvPr id="10" name="Text 8"/>
          <p:cNvSpPr/>
          <p:nvPr/>
        </p:nvSpPr>
        <p:spPr>
          <a:xfrm>
            <a:off x="457200" y="5368000"/>
            <a:ext cx="11274552" cy="914400"/>
          </a:xfrm>
          <a:prstGeom prst="rect">
            <a:avLst/>
          </a:prstGeom>
          <a:noFill/>
          <a:ln/>
        </p:spPr>
        <p:txBody>
          <a:bodyPr wrap="square" rtlCol="0" anchor="ctr"/>
          <a:lstStyle/>
          <a:p>
            <a:pPr marL="0" indent="0">
              <a:buNone/>
            </a:pPr>
            <a:r>
              <a:rPr lang="en-US" sz="2000" dirty="0">
                <a:solidFill>
                  <a:srgbClr val="212121"/>
                </a:solidFill>
                <a:latin typeface="Roboto" pitchFamily="34" charset="0"/>
                <a:ea typeface="Roboto" pitchFamily="34" charset="-122"/>
                <a:cs typeface="Roboto" pitchFamily="34" charset="-120"/>
              </a:rPr>
              <a:t>• Mode collapse: mọi output giống nhau</a:t>
            </a:r>
            <a:endParaRPr lang="en-US" sz="2000" dirty="0"/>
          </a:p>
          <a:p>
            <a:pPr marL="0" indent="0">
              <a:buNone/>
            </a:pPr>
            <a:r>
              <a:rPr lang="en-US" sz="2000" dirty="0">
                <a:solidFill>
                  <a:srgbClr val="212121"/>
                </a:solidFill>
                <a:latin typeface="Roboto" pitchFamily="34" charset="0"/>
                <a:ea typeface="Roboto" pitchFamily="34" charset="-122"/>
                <a:cs typeface="Roboto" pitchFamily="34" charset="-120"/>
              </a:rPr>
              <a:t>• Uniform collapse: output trải đều (không có peak)</a:t>
            </a:r>
            <a:endParaRPr lang="en-US" sz="2000" dirty="0"/>
          </a:p>
        </p:txBody>
      </p:sp>
      <p:sp>
        <p:nvSpPr>
          <p:cNvPr id="11" name="Shape 9"/>
          <p:cNvSpPr/>
          <p:nvPr/>
        </p:nvSpPr>
        <p:spPr>
          <a:xfrm>
            <a:off x="457200" y="6537960"/>
            <a:ext cx="2209190" cy="228600"/>
          </a:xfrm>
          <a:prstGeom prst="rect">
            <a:avLst/>
          </a:prstGeom>
          <a:solidFill>
            <a:srgbClr val="BDBDBD"/>
          </a:solidFill>
          <a:ln/>
        </p:spPr>
      </p:sp>
      <p:sp>
        <p:nvSpPr>
          <p:cNvPr id="12" name="Text 10"/>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3" name="Shape 11"/>
          <p:cNvSpPr/>
          <p:nvPr/>
        </p:nvSpPr>
        <p:spPr>
          <a:xfrm>
            <a:off x="2712110" y="6537960"/>
            <a:ext cx="2209190" cy="228600"/>
          </a:xfrm>
          <a:prstGeom prst="rect">
            <a:avLst/>
          </a:prstGeom>
          <a:solidFill>
            <a:srgbClr val="C62828"/>
          </a:solidFill>
          <a:ln/>
        </p:spPr>
      </p:sp>
      <p:sp>
        <p:nvSpPr>
          <p:cNvPr id="14" name="Text 12"/>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15" name="Shape 13"/>
          <p:cNvSpPr/>
          <p:nvPr/>
        </p:nvSpPr>
        <p:spPr>
          <a:xfrm>
            <a:off x="4967021" y="6537960"/>
            <a:ext cx="2209190" cy="228600"/>
          </a:xfrm>
          <a:prstGeom prst="rect">
            <a:avLst/>
          </a:prstGeom>
          <a:solidFill>
            <a:srgbClr val="BDBDBD"/>
          </a:solidFill>
          <a:ln/>
        </p:spPr>
      </p:sp>
      <p:sp>
        <p:nvSpPr>
          <p:cNvPr id="16" name="Text 14"/>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7" name="Shape 15"/>
          <p:cNvSpPr/>
          <p:nvPr/>
        </p:nvSpPr>
        <p:spPr>
          <a:xfrm>
            <a:off x="7221931" y="6537960"/>
            <a:ext cx="2209190" cy="228600"/>
          </a:xfrm>
          <a:prstGeom prst="rect">
            <a:avLst/>
          </a:prstGeom>
          <a:solidFill>
            <a:srgbClr val="BDBDBD"/>
          </a:solidFill>
          <a:ln/>
        </p:spPr>
      </p:sp>
      <p:sp>
        <p:nvSpPr>
          <p:cNvPr id="18" name="Text 16"/>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9" name="Shape 17"/>
          <p:cNvSpPr/>
          <p:nvPr/>
        </p:nvSpPr>
        <p:spPr>
          <a:xfrm>
            <a:off x="9476842" y="6537960"/>
            <a:ext cx="2209190" cy="228600"/>
          </a:xfrm>
          <a:prstGeom prst="rect">
            <a:avLst/>
          </a:prstGeom>
          <a:solidFill>
            <a:srgbClr val="BDBDBD"/>
          </a:solidFill>
          <a:ln/>
        </p:spPr>
      </p:sp>
      <p:sp>
        <p:nvSpPr>
          <p:cNvPr id="20" name="Text 18"/>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pic>
        <p:nvPicPr>
          <p:cNvPr id="21" name="Picture 20">
            <a:extLst>
              <a:ext uri="{FF2B5EF4-FFF2-40B4-BE49-F238E27FC236}">
                <a16:creationId xmlns:a16="http://schemas.microsoft.com/office/drawing/2014/main" id="{56C58087-A10A-474B-B42B-1FFE4CB42CA3}"/>
              </a:ext>
            </a:extLst>
          </p:cNvPr>
          <p:cNvPicPr>
            <a:picLocks noChangeAspect="1"/>
          </p:cNvPicPr>
          <p:nvPr/>
        </p:nvPicPr>
        <p:blipFill>
          <a:blip r:embed="rId3"/>
          <a:stretch>
            <a:fillRect/>
          </a:stretch>
        </p:blipFill>
        <p:spPr>
          <a:xfrm>
            <a:off x="1561795" y="1078520"/>
            <a:ext cx="9065362" cy="36439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Anti-Collapse</a:t>
            </a:r>
            <a:endParaRPr lang="en-US" sz="3200" dirty="0"/>
          </a:p>
        </p:txBody>
      </p:sp>
      <p:sp>
        <p:nvSpPr>
          <p:cNvPr id="4" name="Shape 2"/>
          <p:cNvSpPr/>
          <p:nvPr/>
        </p:nvSpPr>
        <p:spPr>
          <a:xfrm>
            <a:off x="457200" y="1280160"/>
            <a:ext cx="5394960" cy="2926080"/>
          </a:xfrm>
          <a:prstGeom prst="rect">
            <a:avLst/>
          </a:prstGeom>
          <a:solidFill>
            <a:srgbClr val="F5F5F5"/>
          </a:solidFill>
          <a:ln w="12700">
            <a:solidFill>
              <a:srgbClr val="1565C0"/>
            </a:solidFill>
            <a:prstDash val="solid"/>
          </a:ln>
        </p:spPr>
      </p:sp>
      <p:sp>
        <p:nvSpPr>
          <p:cNvPr id="5" name="Text 3"/>
          <p:cNvSpPr/>
          <p:nvPr/>
        </p:nvSpPr>
        <p:spPr>
          <a:xfrm>
            <a:off x="640080" y="1463040"/>
            <a:ext cx="5029200" cy="457200"/>
          </a:xfrm>
          <a:prstGeom prst="rect">
            <a:avLst/>
          </a:prstGeom>
          <a:noFill/>
          <a:ln/>
        </p:spPr>
        <p:txBody>
          <a:bodyPr wrap="square" rtlCol="0" anchor="ctr"/>
          <a:lstStyle/>
          <a:p>
            <a:pPr marL="0" indent="0">
              <a:buNone/>
            </a:pPr>
            <a:r>
              <a:rPr lang="en-US" sz="2200" b="1" dirty="0">
                <a:solidFill>
                  <a:srgbClr val="1565C0"/>
                </a:solidFill>
                <a:latin typeface="Roboto" pitchFamily="34" charset="0"/>
                <a:ea typeface="Roboto" pitchFamily="34" charset="-122"/>
                <a:cs typeface="Roboto" pitchFamily="34" charset="-120"/>
              </a:rPr>
              <a:t>Centering</a:t>
            </a:r>
            <a:endParaRPr lang="en-US" sz="2200" dirty="0"/>
          </a:p>
        </p:txBody>
      </p:sp>
      <p:sp>
        <p:nvSpPr>
          <p:cNvPr id="6" name="Text 4"/>
          <p:cNvSpPr/>
          <p:nvPr/>
        </p:nvSpPr>
        <p:spPr>
          <a:xfrm>
            <a:off x="640080" y="2011680"/>
            <a:ext cx="5029200" cy="365760"/>
          </a:xfrm>
          <a:prstGeom prst="rect">
            <a:avLst/>
          </a:prstGeom>
          <a:noFill/>
          <a:ln/>
        </p:spPr>
        <p:txBody>
          <a:bodyPr wrap="square" rtlCol="0" anchor="ctr"/>
          <a:lstStyle/>
          <a:p>
            <a:pPr marL="0" indent="0">
              <a:buNone/>
            </a:pPr>
            <a:r>
              <a:rPr lang="en-US" sz="2400" dirty="0">
                <a:solidFill>
                  <a:srgbClr val="212121"/>
                </a:solidFill>
                <a:latin typeface="Consolas" pitchFamily="34" charset="0"/>
                <a:ea typeface="Consolas" pitchFamily="34" charset="-122"/>
                <a:cs typeface="Consolas" pitchFamily="34" charset="-120"/>
              </a:rPr>
              <a:t>output ← output - c</a:t>
            </a:r>
            <a:endParaRPr lang="en-US" sz="2400" dirty="0"/>
          </a:p>
        </p:txBody>
      </p:sp>
      <p:sp>
        <p:nvSpPr>
          <p:cNvPr id="7" name="Text 5"/>
          <p:cNvSpPr/>
          <p:nvPr/>
        </p:nvSpPr>
        <p:spPr>
          <a:xfrm>
            <a:off x="639470" y="2377440"/>
            <a:ext cx="5029200" cy="1737360"/>
          </a:xfrm>
          <a:prstGeom prst="rect">
            <a:avLst/>
          </a:prstGeom>
          <a:noFill/>
          <a:ln/>
        </p:spPr>
        <p:txBody>
          <a:bodyPr wrap="square" rtlCol="0" anchor="ctr"/>
          <a:lstStyle/>
          <a:p>
            <a:r>
              <a:rPr lang="en-US" sz="2400" dirty="0">
                <a:solidFill>
                  <a:srgbClr val="212121"/>
                </a:solidFill>
                <a:latin typeface="Roboto" pitchFamily="34" charset="0"/>
                <a:ea typeface="Roboto" pitchFamily="34" charset="-122"/>
                <a:cs typeface="Roboto" pitchFamily="34" charset="-120"/>
              </a:rPr>
              <a:t>c = trung bình batch </a:t>
            </a:r>
          </a:p>
          <a:p>
            <a:r>
              <a:rPr lang="en-US" sz="2400" dirty="0">
                <a:solidFill>
                  <a:srgbClr val="212121"/>
                </a:solidFill>
                <a:latin typeface="Roboto" pitchFamily="34" charset="0"/>
                <a:ea typeface="Roboto" pitchFamily="34" charset="-122"/>
                <a:cs typeface="Roboto" pitchFamily="34" charset="-120"/>
              </a:rPr>
              <a:t>   = </a:t>
            </a:r>
            <a:r>
              <a:rPr lang="en-US" sz="2400" dirty="0" err="1">
                <a:solidFill>
                  <a:srgbClr val="212121"/>
                </a:solidFill>
                <a:latin typeface="Roboto" pitchFamily="34" charset="0"/>
                <a:ea typeface="Roboto" pitchFamily="34" charset="-122"/>
                <a:cs typeface="Roboto" pitchFamily="34" charset="-120"/>
              </a:rPr>
              <a:t>m·c</a:t>
            </a:r>
            <a:r>
              <a:rPr lang="en-US" sz="2400" dirty="0">
                <a:solidFill>
                  <a:srgbClr val="212121"/>
                </a:solidFill>
                <a:latin typeface="Roboto" pitchFamily="34" charset="0"/>
                <a:ea typeface="Roboto" pitchFamily="34" charset="-122"/>
                <a:cs typeface="Roboto" pitchFamily="34" charset="-120"/>
              </a:rPr>
              <a:t> + (1-m)·mean(batch)</a:t>
            </a:r>
            <a:endParaRPr lang="en-US" sz="2400" dirty="0"/>
          </a:p>
          <a:p>
            <a:pPr marL="0" indent="0">
              <a:buNone/>
            </a:pPr>
            <a:endParaRPr lang="en-US" sz="2400" dirty="0"/>
          </a:p>
          <a:p>
            <a:pPr marL="0" indent="0">
              <a:buNone/>
            </a:pPr>
            <a:r>
              <a:rPr lang="en-US" sz="2400" dirty="0">
                <a:solidFill>
                  <a:srgbClr val="212121"/>
                </a:solidFill>
                <a:latin typeface="Roboto" pitchFamily="34" charset="0"/>
                <a:ea typeface="Roboto" pitchFamily="34" charset="-122"/>
                <a:cs typeface="Roboto" pitchFamily="34" charset="-120"/>
              </a:rPr>
              <a:t>→ Ngăn mode  </a:t>
            </a:r>
            <a:endParaRPr lang="en-US" sz="2400" dirty="0"/>
          </a:p>
        </p:txBody>
      </p:sp>
      <p:sp>
        <p:nvSpPr>
          <p:cNvPr id="8" name="Shape 6"/>
          <p:cNvSpPr/>
          <p:nvPr/>
        </p:nvSpPr>
        <p:spPr>
          <a:xfrm>
            <a:off x="6309360" y="1280160"/>
            <a:ext cx="5394960" cy="2926080"/>
          </a:xfrm>
          <a:prstGeom prst="rect">
            <a:avLst/>
          </a:prstGeom>
          <a:solidFill>
            <a:srgbClr val="F5F5F5"/>
          </a:solidFill>
          <a:ln w="12700">
            <a:solidFill>
              <a:srgbClr val="1565C0"/>
            </a:solidFill>
            <a:prstDash val="solid"/>
          </a:ln>
        </p:spPr>
      </p:sp>
      <p:sp>
        <p:nvSpPr>
          <p:cNvPr id="9" name="Text 7"/>
          <p:cNvSpPr/>
          <p:nvPr/>
        </p:nvSpPr>
        <p:spPr>
          <a:xfrm>
            <a:off x="6492240" y="1463040"/>
            <a:ext cx="5029200" cy="457200"/>
          </a:xfrm>
          <a:prstGeom prst="rect">
            <a:avLst/>
          </a:prstGeom>
          <a:noFill/>
          <a:ln/>
        </p:spPr>
        <p:txBody>
          <a:bodyPr wrap="square" rtlCol="0" anchor="ctr"/>
          <a:lstStyle/>
          <a:p>
            <a:pPr marL="0" indent="0">
              <a:buNone/>
            </a:pPr>
            <a:r>
              <a:rPr lang="en-US" sz="2200" b="1" dirty="0">
                <a:solidFill>
                  <a:srgbClr val="1565C0"/>
                </a:solidFill>
                <a:latin typeface="Roboto" pitchFamily="34" charset="0"/>
                <a:ea typeface="Roboto" pitchFamily="34" charset="-122"/>
                <a:cs typeface="Roboto" pitchFamily="34" charset="-120"/>
              </a:rPr>
              <a:t>Sharpening</a:t>
            </a:r>
            <a:endParaRPr lang="en-US" sz="2200" dirty="0"/>
          </a:p>
        </p:txBody>
      </p:sp>
      <p:sp>
        <p:nvSpPr>
          <p:cNvPr id="10" name="Text 8"/>
          <p:cNvSpPr/>
          <p:nvPr/>
        </p:nvSpPr>
        <p:spPr>
          <a:xfrm>
            <a:off x="6492240" y="2011680"/>
            <a:ext cx="5029200" cy="365760"/>
          </a:xfrm>
          <a:prstGeom prst="rect">
            <a:avLst/>
          </a:prstGeom>
          <a:noFill/>
          <a:ln/>
        </p:spPr>
        <p:txBody>
          <a:bodyPr wrap="square" rtlCol="0" anchor="ctr"/>
          <a:lstStyle/>
          <a:p>
            <a:pPr marL="0" indent="0">
              <a:buNone/>
            </a:pPr>
            <a:r>
              <a:rPr lang="en-US" sz="2400" dirty="0">
                <a:solidFill>
                  <a:srgbClr val="212121"/>
                </a:solidFill>
                <a:latin typeface="Consolas" pitchFamily="34" charset="0"/>
                <a:ea typeface="Consolas" pitchFamily="34" charset="-122"/>
                <a:cs typeface="Consolas" pitchFamily="34" charset="-120"/>
              </a:rPr>
              <a:t>τ_teacher = 0.04 (nhọn)</a:t>
            </a:r>
            <a:endParaRPr lang="en-US" sz="2400" dirty="0"/>
          </a:p>
        </p:txBody>
      </p:sp>
      <p:sp>
        <p:nvSpPr>
          <p:cNvPr id="11" name="Text 9"/>
          <p:cNvSpPr/>
          <p:nvPr/>
        </p:nvSpPr>
        <p:spPr>
          <a:xfrm>
            <a:off x="6453740" y="2468880"/>
            <a:ext cx="5212080" cy="1645920"/>
          </a:xfrm>
          <a:prstGeom prst="rect">
            <a:avLst/>
          </a:prstGeom>
          <a:noFill/>
          <a:ln/>
        </p:spPr>
        <p:txBody>
          <a:bodyPr wrap="square" rtlCol="0" anchor="ctr"/>
          <a:lstStyle/>
          <a:p>
            <a:pPr marL="0" indent="0">
              <a:buNone/>
            </a:pPr>
            <a:r>
              <a:rPr lang="en-US" sz="2400" dirty="0">
                <a:solidFill>
                  <a:srgbClr val="212121"/>
                </a:solidFill>
                <a:latin typeface="Roboto" pitchFamily="34" charset="0"/>
                <a:ea typeface="Roboto" pitchFamily="34" charset="-122"/>
                <a:cs typeface="Roboto" pitchFamily="34" charset="-120"/>
              </a:rPr>
              <a:t>τ_student = 0.1 (mềm)</a:t>
            </a:r>
            <a:endParaRPr lang="en-US" sz="2400" dirty="0"/>
          </a:p>
          <a:p>
            <a:pPr marL="0" indent="0">
              <a:buNone/>
            </a:pPr>
            <a:endParaRPr lang="en-US" sz="2400" dirty="0"/>
          </a:p>
          <a:p>
            <a:r>
              <a:rPr lang="en-US" sz="2400" dirty="0">
                <a:solidFill>
                  <a:srgbClr val="212121"/>
                </a:solidFill>
                <a:latin typeface="Roboto" pitchFamily="34" charset="0"/>
                <a:ea typeface="Roboto" pitchFamily="34" charset="-122"/>
                <a:cs typeface="Roboto" pitchFamily="34" charset="-120"/>
              </a:rPr>
              <a:t>→ Chỉnh τ  để </a:t>
            </a:r>
            <a:r>
              <a:rPr lang="en-US" sz="2400" dirty="0" err="1">
                <a:solidFill>
                  <a:srgbClr val="212121"/>
                </a:solidFill>
                <a:latin typeface="Roboto" pitchFamily="34" charset="0"/>
                <a:ea typeface="Roboto" pitchFamily="34" charset="-122"/>
                <a:cs typeface="Roboto" pitchFamily="34" charset="-120"/>
              </a:rPr>
              <a:t>ngăn</a:t>
            </a:r>
            <a:r>
              <a:rPr lang="en-US" sz="2400" dirty="0">
                <a:solidFill>
                  <a:srgbClr val="212121"/>
                </a:solidFill>
                <a:latin typeface="Roboto" pitchFamily="34" charset="0"/>
                <a:ea typeface="Roboto" pitchFamily="34" charset="-122"/>
                <a:cs typeface="Roboto" pitchFamily="34" charset="-120"/>
              </a:rPr>
              <a:t> uniform collapse  </a:t>
            </a:r>
            <a:endParaRPr lang="en-US" sz="2400" dirty="0"/>
          </a:p>
        </p:txBody>
      </p:sp>
      <p:sp>
        <p:nvSpPr>
          <p:cNvPr id="12" name="Shape 10"/>
          <p:cNvSpPr/>
          <p:nvPr/>
        </p:nvSpPr>
        <p:spPr>
          <a:xfrm>
            <a:off x="457200" y="4572000"/>
            <a:ext cx="11274552" cy="1097280"/>
          </a:xfrm>
          <a:prstGeom prst="rect">
            <a:avLst/>
          </a:prstGeom>
          <a:solidFill>
            <a:srgbClr val="E8F5E9"/>
          </a:solidFill>
          <a:ln w="12700">
            <a:solidFill>
              <a:srgbClr val="388E3C"/>
            </a:solidFill>
            <a:prstDash val="solid"/>
          </a:ln>
        </p:spPr>
      </p:sp>
      <p:sp>
        <p:nvSpPr>
          <p:cNvPr id="13" name="Text 11"/>
          <p:cNvSpPr/>
          <p:nvPr/>
        </p:nvSpPr>
        <p:spPr>
          <a:xfrm>
            <a:off x="640080" y="4846320"/>
            <a:ext cx="10908792" cy="548640"/>
          </a:xfrm>
          <a:prstGeom prst="rect">
            <a:avLst/>
          </a:prstGeom>
          <a:noFill/>
          <a:ln/>
        </p:spPr>
        <p:txBody>
          <a:bodyPr wrap="square" rtlCol="0" anchor="ctr"/>
          <a:lstStyle/>
          <a:p>
            <a:pPr marL="0" indent="0" algn="ctr">
              <a:buNone/>
            </a:pPr>
            <a:r>
              <a:rPr lang="en-US" sz="2400" b="1" dirty="0">
                <a:solidFill>
                  <a:srgbClr val="388E3C"/>
                </a:solidFill>
                <a:latin typeface="Roboto" pitchFamily="34" charset="0"/>
                <a:ea typeface="Roboto" pitchFamily="34" charset="-122"/>
                <a:cs typeface="Roboto" pitchFamily="34" charset="-120"/>
              </a:rPr>
              <a:t>Centering + Sharpening = </a:t>
            </a:r>
            <a:r>
              <a:rPr lang="en-US" sz="2400" b="1" dirty="0" err="1">
                <a:solidFill>
                  <a:srgbClr val="388E3C"/>
                </a:solidFill>
                <a:latin typeface="Roboto" pitchFamily="34" charset="0"/>
                <a:ea typeface="Roboto" pitchFamily="34" charset="-122"/>
                <a:cs typeface="Roboto" pitchFamily="34" charset="-120"/>
              </a:rPr>
              <a:t>Cân</a:t>
            </a:r>
            <a:r>
              <a:rPr lang="en-US" sz="2400" b="1" dirty="0">
                <a:solidFill>
                  <a:srgbClr val="388E3C"/>
                </a:solidFill>
                <a:latin typeface="Roboto" pitchFamily="34" charset="0"/>
                <a:ea typeface="Roboto" pitchFamily="34" charset="-122"/>
                <a:cs typeface="Roboto" pitchFamily="34" charset="-120"/>
              </a:rPr>
              <a:t> bằng</a:t>
            </a:r>
            <a:endParaRPr lang="en-US" sz="2400" dirty="0"/>
          </a:p>
        </p:txBody>
      </p:sp>
      <p:sp>
        <p:nvSpPr>
          <p:cNvPr id="14" name="Shape 12"/>
          <p:cNvSpPr/>
          <p:nvPr/>
        </p:nvSpPr>
        <p:spPr>
          <a:xfrm>
            <a:off x="457200" y="6537960"/>
            <a:ext cx="2209190" cy="228600"/>
          </a:xfrm>
          <a:prstGeom prst="rect">
            <a:avLst/>
          </a:prstGeom>
          <a:solidFill>
            <a:srgbClr val="BDBDBD"/>
          </a:solidFill>
          <a:ln/>
        </p:spPr>
      </p:sp>
      <p:sp>
        <p:nvSpPr>
          <p:cNvPr id="15" name="Text 13"/>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6" name="Shape 14"/>
          <p:cNvSpPr/>
          <p:nvPr/>
        </p:nvSpPr>
        <p:spPr>
          <a:xfrm>
            <a:off x="2712110" y="6537960"/>
            <a:ext cx="2209190" cy="228600"/>
          </a:xfrm>
          <a:prstGeom prst="rect">
            <a:avLst/>
          </a:prstGeom>
          <a:solidFill>
            <a:srgbClr val="C62828"/>
          </a:solidFill>
          <a:ln/>
        </p:spPr>
      </p:sp>
      <p:sp>
        <p:nvSpPr>
          <p:cNvPr id="17" name="Text 15"/>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18" name="Shape 16"/>
          <p:cNvSpPr/>
          <p:nvPr/>
        </p:nvSpPr>
        <p:spPr>
          <a:xfrm>
            <a:off x="4967021" y="6537960"/>
            <a:ext cx="2209190" cy="228600"/>
          </a:xfrm>
          <a:prstGeom prst="rect">
            <a:avLst/>
          </a:prstGeom>
          <a:solidFill>
            <a:srgbClr val="BDBDBD"/>
          </a:solidFill>
          <a:ln/>
        </p:spPr>
      </p:sp>
      <p:sp>
        <p:nvSpPr>
          <p:cNvPr id="19" name="Text 17"/>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20" name="Shape 18"/>
          <p:cNvSpPr/>
          <p:nvPr/>
        </p:nvSpPr>
        <p:spPr>
          <a:xfrm>
            <a:off x="7221931" y="6537960"/>
            <a:ext cx="2209190" cy="228600"/>
          </a:xfrm>
          <a:prstGeom prst="rect">
            <a:avLst/>
          </a:prstGeom>
          <a:solidFill>
            <a:srgbClr val="BDBDBD"/>
          </a:solidFill>
          <a:ln/>
        </p:spPr>
      </p:sp>
      <p:sp>
        <p:nvSpPr>
          <p:cNvPr id="21" name="Text 19"/>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22" name="Shape 20"/>
          <p:cNvSpPr/>
          <p:nvPr/>
        </p:nvSpPr>
        <p:spPr>
          <a:xfrm>
            <a:off x="9476842" y="6537960"/>
            <a:ext cx="2209190" cy="228600"/>
          </a:xfrm>
          <a:prstGeom prst="rect">
            <a:avLst/>
          </a:prstGeom>
          <a:solidFill>
            <a:srgbClr val="BDBDBD"/>
          </a:solidFill>
          <a:ln/>
        </p:spPr>
      </p:sp>
      <p:sp>
        <p:nvSpPr>
          <p:cNvPr id="23" name="Text 21"/>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Loss</a:t>
            </a:r>
            <a:endParaRPr lang="en-US" sz="3200" dirty="0"/>
          </a:p>
        </p:txBody>
      </p:sp>
      <p:sp>
        <p:nvSpPr>
          <p:cNvPr id="4" name="Shape 2"/>
          <p:cNvSpPr/>
          <p:nvPr/>
        </p:nvSpPr>
        <p:spPr>
          <a:xfrm>
            <a:off x="457200" y="1280160"/>
            <a:ext cx="11274552" cy="731520"/>
          </a:xfrm>
          <a:prstGeom prst="rect">
            <a:avLst/>
          </a:prstGeom>
          <a:solidFill>
            <a:srgbClr val="F5F5F5"/>
          </a:solidFill>
          <a:ln w="12700">
            <a:solidFill>
              <a:srgbClr val="1565C0"/>
            </a:solidFill>
            <a:prstDash val="solid"/>
          </a:ln>
        </p:spPr>
      </p:sp>
      <p:sp>
        <p:nvSpPr>
          <p:cNvPr id="5" name="Text 3"/>
          <p:cNvSpPr/>
          <p:nvPr/>
        </p:nvSpPr>
        <p:spPr>
          <a:xfrm>
            <a:off x="640080" y="1371600"/>
            <a:ext cx="10908792" cy="548640"/>
          </a:xfrm>
          <a:prstGeom prst="rect">
            <a:avLst/>
          </a:prstGeom>
          <a:noFill/>
          <a:ln/>
        </p:spPr>
        <p:txBody>
          <a:bodyPr wrap="square" rtlCol="0" anchor="ctr"/>
          <a:lstStyle/>
          <a:p>
            <a:pPr marL="0" indent="0">
              <a:buNone/>
            </a:pPr>
            <a:r>
              <a:rPr lang="en-US" sz="3200" dirty="0">
                <a:solidFill>
                  <a:srgbClr val="212121"/>
                </a:solidFill>
                <a:latin typeface="Consolas" pitchFamily="34" charset="0"/>
                <a:ea typeface="Consolas" pitchFamily="34" charset="-122"/>
                <a:cs typeface="Consolas" pitchFamily="34" charset="-120"/>
              </a:rPr>
              <a:t>L = - Σₖ P_t(x)[k] · log P_s(x')[k]</a:t>
            </a:r>
            <a:endParaRPr lang="en-US" sz="3200" dirty="0"/>
          </a:p>
        </p:txBody>
      </p:sp>
      <p:sp>
        <p:nvSpPr>
          <p:cNvPr id="6" name="Text 4"/>
          <p:cNvSpPr/>
          <p:nvPr/>
        </p:nvSpPr>
        <p:spPr>
          <a:xfrm>
            <a:off x="457200" y="2194560"/>
            <a:ext cx="11274552" cy="457200"/>
          </a:xfrm>
          <a:prstGeom prst="rect">
            <a:avLst/>
          </a:prstGeom>
          <a:noFill/>
          <a:ln/>
        </p:spPr>
        <p:txBody>
          <a:bodyPr wrap="square" rtlCol="0" anchor="ctr"/>
          <a:lstStyle/>
          <a:p>
            <a:pPr marL="0" indent="0" algn="ctr">
              <a:buNone/>
            </a:pPr>
            <a:r>
              <a:rPr lang="en-US" sz="3200" dirty="0">
                <a:solidFill>
                  <a:srgbClr val="424242"/>
                </a:solidFill>
                <a:latin typeface="Roboto" pitchFamily="34" charset="0"/>
                <a:ea typeface="Roboto" pitchFamily="34" charset="-122"/>
                <a:cs typeface="Roboto" pitchFamily="34" charset="-120"/>
              </a:rPr>
              <a:t>Cross-entropy của:</a:t>
            </a:r>
            <a:endParaRPr lang="en-US" sz="3200" dirty="0"/>
          </a:p>
        </p:txBody>
      </p:sp>
      <p:sp>
        <p:nvSpPr>
          <p:cNvPr id="8" name="Text 6"/>
          <p:cNvSpPr/>
          <p:nvPr/>
        </p:nvSpPr>
        <p:spPr>
          <a:xfrm>
            <a:off x="640080" y="3017520"/>
            <a:ext cx="1828800" cy="365760"/>
          </a:xfrm>
          <a:prstGeom prst="rect">
            <a:avLst/>
          </a:prstGeom>
          <a:noFill/>
          <a:ln/>
        </p:spPr>
        <p:txBody>
          <a:bodyPr wrap="square" rtlCol="0" anchor="ctr"/>
          <a:lstStyle/>
          <a:p>
            <a:pPr marL="0" indent="0">
              <a:buNone/>
            </a:pPr>
            <a:r>
              <a:rPr lang="en-US" sz="2400" b="1" dirty="0">
                <a:solidFill>
                  <a:srgbClr val="1565C0"/>
                </a:solidFill>
                <a:latin typeface="Roboto" pitchFamily="34" charset="0"/>
                <a:ea typeface="Roboto" pitchFamily="34" charset="-122"/>
                <a:cs typeface="Roboto" pitchFamily="34" charset="-120"/>
              </a:rPr>
              <a:t>Student:</a:t>
            </a:r>
            <a:endParaRPr lang="en-US" sz="2400" dirty="0"/>
          </a:p>
        </p:txBody>
      </p:sp>
      <p:sp>
        <p:nvSpPr>
          <p:cNvPr id="9" name="Text 7"/>
          <p:cNvSpPr/>
          <p:nvPr/>
        </p:nvSpPr>
        <p:spPr>
          <a:xfrm>
            <a:off x="640080" y="3383280"/>
            <a:ext cx="5120640" cy="365760"/>
          </a:xfrm>
          <a:prstGeom prst="rect">
            <a:avLst/>
          </a:prstGeom>
          <a:noFill/>
          <a:ln/>
        </p:spPr>
        <p:txBody>
          <a:bodyPr wrap="square" rtlCol="0" anchor="ctr"/>
          <a:lstStyle/>
          <a:p>
            <a:pPr marL="0" indent="0">
              <a:buNone/>
            </a:pPr>
            <a:r>
              <a:rPr lang="en-US" sz="2400" dirty="0">
                <a:solidFill>
                  <a:srgbClr val="212121"/>
                </a:solidFill>
                <a:latin typeface="Consolas" pitchFamily="34" charset="0"/>
                <a:ea typeface="Consolas" pitchFamily="34" charset="-122"/>
                <a:cs typeface="Consolas" pitchFamily="34" charset="-120"/>
              </a:rPr>
              <a:t>P_s = softmax(g_s(x') / τ_s)</a:t>
            </a:r>
            <a:endParaRPr lang="en-US" sz="2400" dirty="0"/>
          </a:p>
        </p:txBody>
      </p:sp>
      <p:sp>
        <p:nvSpPr>
          <p:cNvPr id="10" name="Text 8"/>
          <p:cNvSpPr/>
          <p:nvPr/>
        </p:nvSpPr>
        <p:spPr>
          <a:xfrm>
            <a:off x="640080" y="3840480"/>
            <a:ext cx="5120640" cy="365760"/>
          </a:xfrm>
          <a:prstGeom prst="rect">
            <a:avLst/>
          </a:prstGeom>
          <a:noFill/>
          <a:ln/>
        </p:spPr>
        <p:txBody>
          <a:bodyPr wrap="square" rtlCol="0" anchor="ctr"/>
          <a:lstStyle/>
          <a:p>
            <a:pPr marL="0" indent="0">
              <a:buNone/>
            </a:pPr>
            <a:r>
              <a:rPr lang="en-US" sz="2000" dirty="0">
                <a:latin typeface="Consolas" pitchFamily="34" charset="0"/>
                <a:ea typeface="Consolas" pitchFamily="34" charset="-122"/>
                <a:cs typeface="Consolas" pitchFamily="34" charset="-120"/>
              </a:rPr>
              <a:t>τ_s = 0.1</a:t>
            </a:r>
            <a:endParaRPr lang="en-US" sz="2000" dirty="0"/>
          </a:p>
        </p:txBody>
      </p:sp>
      <p:sp>
        <p:nvSpPr>
          <p:cNvPr id="12" name="Text 10"/>
          <p:cNvSpPr/>
          <p:nvPr/>
        </p:nvSpPr>
        <p:spPr>
          <a:xfrm>
            <a:off x="6187440" y="2997200"/>
            <a:ext cx="1828800" cy="365760"/>
          </a:xfrm>
          <a:prstGeom prst="rect">
            <a:avLst/>
          </a:prstGeom>
          <a:noFill/>
          <a:ln/>
        </p:spPr>
        <p:txBody>
          <a:bodyPr wrap="square" rtlCol="0" anchor="ctr"/>
          <a:lstStyle/>
          <a:p>
            <a:pPr marL="0" indent="0">
              <a:buNone/>
            </a:pPr>
            <a:r>
              <a:rPr lang="en-US" sz="2400" b="1" dirty="0">
                <a:solidFill>
                  <a:srgbClr val="2E7D32"/>
                </a:solidFill>
                <a:latin typeface="Roboto" pitchFamily="34" charset="0"/>
                <a:ea typeface="Roboto" pitchFamily="34" charset="-122"/>
                <a:cs typeface="Roboto" pitchFamily="34" charset="-120"/>
              </a:rPr>
              <a:t>Teacher:</a:t>
            </a:r>
            <a:endParaRPr lang="en-US" sz="2400" dirty="0"/>
          </a:p>
        </p:txBody>
      </p:sp>
      <p:sp>
        <p:nvSpPr>
          <p:cNvPr id="13" name="Text 11"/>
          <p:cNvSpPr/>
          <p:nvPr/>
        </p:nvSpPr>
        <p:spPr>
          <a:xfrm>
            <a:off x="6102096" y="3383280"/>
            <a:ext cx="6537960" cy="365760"/>
          </a:xfrm>
          <a:prstGeom prst="rect">
            <a:avLst/>
          </a:prstGeom>
          <a:noFill/>
          <a:ln/>
        </p:spPr>
        <p:txBody>
          <a:bodyPr wrap="square" rtlCol="0" anchor="ctr"/>
          <a:lstStyle/>
          <a:p>
            <a:pPr marL="0" indent="0">
              <a:buNone/>
            </a:pPr>
            <a:r>
              <a:rPr lang="en-US" sz="2400" dirty="0">
                <a:solidFill>
                  <a:srgbClr val="212121"/>
                </a:solidFill>
                <a:latin typeface="Consolas" pitchFamily="34" charset="0"/>
                <a:ea typeface="Consolas" pitchFamily="34" charset="-122"/>
                <a:cs typeface="Consolas" pitchFamily="34" charset="-120"/>
              </a:rPr>
              <a:t>P_t = softmax((g_t(x) - c) / τ_t)</a:t>
            </a:r>
            <a:endParaRPr lang="en-US" sz="2400" dirty="0"/>
          </a:p>
        </p:txBody>
      </p:sp>
      <p:sp>
        <p:nvSpPr>
          <p:cNvPr id="14" name="Text 12"/>
          <p:cNvSpPr/>
          <p:nvPr/>
        </p:nvSpPr>
        <p:spPr>
          <a:xfrm>
            <a:off x="6187440" y="3840480"/>
            <a:ext cx="5120640" cy="365760"/>
          </a:xfrm>
          <a:prstGeom prst="rect">
            <a:avLst/>
          </a:prstGeom>
          <a:noFill/>
          <a:ln/>
        </p:spPr>
        <p:txBody>
          <a:bodyPr wrap="square" rtlCol="0" anchor="ctr"/>
          <a:lstStyle/>
          <a:p>
            <a:pPr marL="0" indent="0">
              <a:buNone/>
            </a:pPr>
            <a:r>
              <a:rPr lang="en-US" sz="2000" dirty="0">
                <a:latin typeface="Consolas" pitchFamily="34" charset="0"/>
                <a:ea typeface="Consolas" pitchFamily="34" charset="-122"/>
                <a:cs typeface="Consolas" pitchFamily="34" charset="-120"/>
              </a:rPr>
              <a:t>τ_t = 0.04, c = centering</a:t>
            </a:r>
            <a:endParaRPr lang="en-US" sz="2000" dirty="0"/>
          </a:p>
        </p:txBody>
      </p:sp>
      <p:sp>
        <p:nvSpPr>
          <p:cNvPr id="15" name="Text 13"/>
          <p:cNvSpPr/>
          <p:nvPr/>
        </p:nvSpPr>
        <p:spPr>
          <a:xfrm>
            <a:off x="457200" y="4572000"/>
            <a:ext cx="11274552" cy="365760"/>
          </a:xfrm>
          <a:prstGeom prst="rect">
            <a:avLst/>
          </a:prstGeom>
          <a:noFill/>
          <a:ln/>
        </p:spPr>
        <p:txBody>
          <a:bodyPr wrap="square" rtlCol="0" anchor="ctr"/>
          <a:lstStyle/>
          <a:p>
            <a:pPr marL="0" indent="0" algn="ctr">
              <a:buNone/>
            </a:pPr>
            <a:r>
              <a:rPr lang="en-US" sz="2400" dirty="0">
                <a:solidFill>
                  <a:srgbClr val="424242"/>
                </a:solidFill>
                <a:latin typeface="Roboto" pitchFamily="34" charset="0"/>
                <a:ea typeface="Roboto" pitchFamily="34" charset="-122"/>
                <a:cs typeface="Roboto" pitchFamily="34" charset="-120"/>
              </a:rPr>
              <a:t>x = global crop (Teacher)    x' = local/global crop (Student)</a:t>
            </a:r>
            <a:endParaRPr lang="en-US" sz="2400" dirty="0"/>
          </a:p>
        </p:txBody>
      </p:sp>
      <p:sp>
        <p:nvSpPr>
          <p:cNvPr id="16" name="Text 14"/>
          <p:cNvSpPr/>
          <p:nvPr/>
        </p:nvSpPr>
        <p:spPr>
          <a:xfrm>
            <a:off x="457200" y="5332307"/>
            <a:ext cx="11274552" cy="365760"/>
          </a:xfrm>
          <a:prstGeom prst="rect">
            <a:avLst/>
          </a:prstGeom>
          <a:noFill/>
          <a:ln/>
        </p:spPr>
        <p:txBody>
          <a:bodyPr wrap="square" rtlCol="0" anchor="ctr"/>
          <a:lstStyle/>
          <a:p>
            <a:pPr marL="0" indent="0" algn="ctr">
              <a:buNone/>
            </a:pPr>
            <a:r>
              <a:rPr lang="en-US" sz="2800" b="1" dirty="0">
                <a:solidFill>
                  <a:srgbClr val="212121"/>
                </a:solidFill>
                <a:latin typeface="Roboto" pitchFamily="34" charset="0"/>
                <a:ea typeface="Roboto" pitchFamily="34" charset="-122"/>
                <a:cs typeface="Roboto" pitchFamily="34" charset="-120"/>
              </a:rPr>
              <a:t>K = 65536 dimensions (prototypes)</a:t>
            </a:r>
            <a:endParaRPr lang="en-US" sz="2800" dirty="0"/>
          </a:p>
        </p:txBody>
      </p:sp>
      <p:sp>
        <p:nvSpPr>
          <p:cNvPr id="17" name="Shape 15"/>
          <p:cNvSpPr/>
          <p:nvPr/>
        </p:nvSpPr>
        <p:spPr>
          <a:xfrm>
            <a:off x="457200" y="6537960"/>
            <a:ext cx="2209190" cy="228600"/>
          </a:xfrm>
          <a:prstGeom prst="rect">
            <a:avLst/>
          </a:prstGeom>
          <a:solidFill>
            <a:srgbClr val="BDBDBD"/>
          </a:solidFill>
          <a:ln/>
        </p:spPr>
      </p:sp>
      <p:sp>
        <p:nvSpPr>
          <p:cNvPr id="18" name="Text 16"/>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9" name="Shape 17"/>
          <p:cNvSpPr/>
          <p:nvPr/>
        </p:nvSpPr>
        <p:spPr>
          <a:xfrm>
            <a:off x="2712110" y="6537960"/>
            <a:ext cx="2209190" cy="228600"/>
          </a:xfrm>
          <a:prstGeom prst="rect">
            <a:avLst/>
          </a:prstGeom>
          <a:solidFill>
            <a:srgbClr val="C62828"/>
          </a:solidFill>
          <a:ln/>
        </p:spPr>
      </p:sp>
      <p:sp>
        <p:nvSpPr>
          <p:cNvPr id="20" name="Text 18"/>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21" name="Shape 19"/>
          <p:cNvSpPr/>
          <p:nvPr/>
        </p:nvSpPr>
        <p:spPr>
          <a:xfrm>
            <a:off x="4967021" y="6537960"/>
            <a:ext cx="2209190" cy="228600"/>
          </a:xfrm>
          <a:prstGeom prst="rect">
            <a:avLst/>
          </a:prstGeom>
          <a:solidFill>
            <a:srgbClr val="BDBDBD"/>
          </a:solidFill>
          <a:ln/>
        </p:spPr>
      </p:sp>
      <p:sp>
        <p:nvSpPr>
          <p:cNvPr id="22" name="Text 20"/>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23" name="Shape 21"/>
          <p:cNvSpPr/>
          <p:nvPr/>
        </p:nvSpPr>
        <p:spPr>
          <a:xfrm>
            <a:off x="7221931" y="6537960"/>
            <a:ext cx="2209190" cy="228600"/>
          </a:xfrm>
          <a:prstGeom prst="rect">
            <a:avLst/>
          </a:prstGeom>
          <a:solidFill>
            <a:srgbClr val="BDBDBD"/>
          </a:solidFill>
          <a:ln/>
        </p:spPr>
      </p:sp>
      <p:sp>
        <p:nvSpPr>
          <p:cNvPr id="24" name="Text 22"/>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25" name="Shape 23"/>
          <p:cNvSpPr/>
          <p:nvPr/>
        </p:nvSpPr>
        <p:spPr>
          <a:xfrm>
            <a:off x="9476842" y="6537960"/>
            <a:ext cx="2209190" cy="228600"/>
          </a:xfrm>
          <a:prstGeom prst="rect">
            <a:avLst/>
          </a:prstGeom>
          <a:solidFill>
            <a:srgbClr val="BDBDBD"/>
          </a:solidFill>
          <a:ln/>
        </p:spPr>
      </p:sp>
      <p:sp>
        <p:nvSpPr>
          <p:cNvPr id="26" name="Text 24"/>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So Sánh</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245597113"/>
              </p:ext>
            </p:extLst>
          </p:nvPr>
        </p:nvGraphicFramePr>
        <p:xfrm>
          <a:off x="457200" y="1280160"/>
          <a:ext cx="11274552" cy="2743200"/>
        </p:xfrm>
        <a:graphic>
          <a:graphicData uri="http://schemas.openxmlformats.org/drawingml/2006/table">
            <a:tbl>
              <a:tblPr/>
              <a:tblGrid>
                <a:gridCol w="3758184">
                  <a:extLst>
                    <a:ext uri="{9D8B030D-6E8A-4147-A177-3AD203B41FA5}">
                      <a16:colId xmlns:a16="http://schemas.microsoft.com/office/drawing/2014/main" val="20000"/>
                    </a:ext>
                  </a:extLst>
                </a:gridCol>
                <a:gridCol w="3758184">
                  <a:extLst>
                    <a:ext uri="{9D8B030D-6E8A-4147-A177-3AD203B41FA5}">
                      <a16:colId xmlns:a16="http://schemas.microsoft.com/office/drawing/2014/main" val="20001"/>
                    </a:ext>
                  </a:extLst>
                </a:gridCol>
                <a:gridCol w="3758184">
                  <a:extLst>
                    <a:ext uri="{9D8B030D-6E8A-4147-A177-3AD203B41FA5}">
                      <a16:colId xmlns:a16="http://schemas.microsoft.com/office/drawing/2014/main" val="20002"/>
                    </a:ext>
                  </a:extLst>
                </a:gridCol>
              </a:tblGrid>
              <a:tr h="0">
                <a:tc>
                  <a:txBody>
                    <a:bodyPr/>
                    <a:lstStyle/>
                    <a:p>
                      <a:pPr marL="0" indent="0" algn="ctr">
                        <a:buNone/>
                      </a:pP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2E7D32"/>
                    </a:solidFill>
                  </a:tcPr>
                </a:tc>
                <a:tc>
                  <a:txBody>
                    <a:bodyPr/>
                    <a:lstStyle/>
                    <a:p>
                      <a:pPr marL="0" indent="0" algn="ctr">
                        <a:buNone/>
                      </a:pPr>
                      <a:r>
                        <a:rPr lang="en-US" sz="2400" b="1" dirty="0">
                          <a:solidFill>
                            <a:srgbClr val="FFFFFF"/>
                          </a:solidFill>
                          <a:latin typeface="Roboto" pitchFamily="34" charset="0"/>
                          <a:ea typeface="Roboto" pitchFamily="34" charset="-122"/>
                          <a:cs typeface="Roboto" pitchFamily="34" charset="-120"/>
                        </a:rPr>
                        <a:t>Student</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2E7D32"/>
                    </a:solidFill>
                  </a:tcPr>
                </a:tc>
                <a:tc>
                  <a:txBody>
                    <a:bodyPr/>
                    <a:lstStyle/>
                    <a:p>
                      <a:pPr marL="0" indent="0" algn="ctr">
                        <a:buNone/>
                      </a:pPr>
                      <a:r>
                        <a:rPr lang="en-US" sz="2400" b="1" dirty="0">
                          <a:solidFill>
                            <a:srgbClr val="FFFFFF"/>
                          </a:solidFill>
                          <a:latin typeface="Roboto" pitchFamily="34" charset="0"/>
                          <a:ea typeface="Roboto" pitchFamily="34" charset="-122"/>
                          <a:cs typeface="Roboto" pitchFamily="34" charset="-120"/>
                        </a:rPr>
                        <a:t>Teacher</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2E7D32"/>
                    </a:solidFill>
                  </a:tcPr>
                </a:tc>
                <a:extLst>
                  <a:ext uri="{0D108BD9-81ED-4DB2-BD59-A6C34878D82A}">
                    <a16:rowId xmlns:a16="http://schemas.microsoft.com/office/drawing/2014/main" val="10000"/>
                  </a:ext>
                </a:extLst>
              </a:tr>
              <a:tr h="0">
                <a:tc>
                  <a:txBody>
                    <a:bodyPr/>
                    <a:lstStyle/>
                    <a:p>
                      <a:pPr marL="0" indent="0">
                        <a:buNone/>
                      </a:pPr>
                      <a:r>
                        <a:rPr lang="en-US" sz="2400" dirty="0">
                          <a:solidFill>
                            <a:srgbClr val="212121"/>
                          </a:solidFill>
                          <a:latin typeface="Roboto" pitchFamily="34" charset="0"/>
                          <a:ea typeface="Roboto" pitchFamily="34" charset="-122"/>
                          <a:cs typeface="Roboto" pitchFamily="34" charset="-120"/>
                        </a:rPr>
                        <a:t>Kiến trúc</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g = h ∘ f</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g = h ∘ f (giống nhau)</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extLst>
                  <a:ext uri="{0D108BD9-81ED-4DB2-BD59-A6C34878D82A}">
                    <a16:rowId xmlns:a16="http://schemas.microsoft.com/office/drawing/2014/main" val="10001"/>
                  </a:ext>
                </a:extLst>
              </a:tr>
              <a:tr h="0">
                <a:tc>
                  <a:txBody>
                    <a:bodyPr/>
                    <a:lstStyle/>
                    <a:p>
                      <a:pPr marL="0" indent="0">
                        <a:buNone/>
                      </a:pPr>
                      <a:r>
                        <a:rPr lang="en-US" sz="2400" dirty="0">
                          <a:solidFill>
                            <a:srgbClr val="212121"/>
                          </a:solidFill>
                          <a:latin typeface="Roboto" pitchFamily="34" charset="0"/>
                          <a:ea typeface="Roboto" pitchFamily="34" charset="-122"/>
                          <a:cs typeface="Roboto" pitchFamily="34" charset="-120"/>
                        </a:rPr>
                        <a:t>Input</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Local crops 96²</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Global crops 224²</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2400" dirty="0">
                          <a:solidFill>
                            <a:srgbClr val="212121"/>
                          </a:solidFill>
                          <a:latin typeface="Roboto" pitchFamily="34" charset="0"/>
                          <a:ea typeface="Roboto" pitchFamily="34" charset="-122"/>
                          <a:cs typeface="Roboto" pitchFamily="34" charset="-120"/>
                        </a:rPr>
                        <a:t>Centering</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Không</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Có (- c)</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extLst>
                  <a:ext uri="{0D108BD9-81ED-4DB2-BD59-A6C34878D82A}">
                    <a16:rowId xmlns:a16="http://schemas.microsoft.com/office/drawing/2014/main" val="10003"/>
                  </a:ext>
                </a:extLst>
              </a:tr>
              <a:tr h="0">
                <a:tc>
                  <a:txBody>
                    <a:bodyPr/>
                    <a:lstStyle/>
                    <a:p>
                      <a:pPr marL="0" indent="0">
                        <a:buNone/>
                      </a:pPr>
                      <a:r>
                        <a:rPr lang="en-US" sz="2400" dirty="0">
                          <a:solidFill>
                            <a:srgbClr val="212121"/>
                          </a:solidFill>
                          <a:latin typeface="Roboto" pitchFamily="34" charset="0"/>
                          <a:ea typeface="Roboto" pitchFamily="34" charset="-122"/>
                          <a:cs typeface="Roboto" pitchFamily="34" charset="-120"/>
                        </a:rPr>
                        <a:t>Temperature</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τ = 0.1 (soft)</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τ = 0.04 (sharp)</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2400" dirty="0">
                          <a:solidFill>
                            <a:srgbClr val="212121"/>
                          </a:solidFill>
                          <a:latin typeface="Roboto" pitchFamily="34" charset="0"/>
                          <a:ea typeface="Roboto" pitchFamily="34" charset="-122"/>
                          <a:cs typeface="Roboto" pitchFamily="34" charset="-120"/>
                        </a:rPr>
                        <a:t>Training</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Gradient descent</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2400" dirty="0">
                          <a:solidFill>
                            <a:srgbClr val="212121"/>
                          </a:solidFill>
                          <a:latin typeface="Roboto" pitchFamily="34" charset="0"/>
                          <a:ea typeface="Roboto" pitchFamily="34" charset="-122"/>
                          <a:cs typeface="Roboto" pitchFamily="34" charset="-120"/>
                        </a:rPr>
                        <a:t>EMA từ Student</a:t>
                      </a:r>
                      <a:endParaRPr lang="en-US" sz="2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extLst>
                  <a:ext uri="{0D108BD9-81ED-4DB2-BD59-A6C34878D82A}">
                    <a16:rowId xmlns:a16="http://schemas.microsoft.com/office/drawing/2014/main" val="10005"/>
                  </a:ext>
                </a:extLst>
              </a:tr>
            </a:tbl>
          </a:graphicData>
        </a:graphic>
      </p:graphicFrame>
      <p:sp>
        <p:nvSpPr>
          <p:cNvPr id="5" name="Text 2"/>
          <p:cNvSpPr/>
          <p:nvPr/>
        </p:nvSpPr>
        <p:spPr>
          <a:xfrm>
            <a:off x="457200" y="4389120"/>
            <a:ext cx="11274552" cy="548640"/>
          </a:xfrm>
          <a:prstGeom prst="rect">
            <a:avLst/>
          </a:prstGeom>
          <a:noFill/>
          <a:ln/>
        </p:spPr>
        <p:txBody>
          <a:bodyPr wrap="square" rtlCol="0" anchor="ctr"/>
          <a:lstStyle/>
          <a:p>
            <a:pPr marL="0" indent="0" algn="ctr">
              <a:buNone/>
            </a:pPr>
            <a:r>
              <a:rPr lang="en-US" sz="2400" b="1" dirty="0">
                <a:solidFill>
                  <a:srgbClr val="2E7D32"/>
                </a:solidFill>
                <a:latin typeface="Roboto" pitchFamily="34" charset="0"/>
                <a:ea typeface="Roboto" pitchFamily="34" charset="-122"/>
                <a:cs typeface="Roboto" pitchFamily="34" charset="-120"/>
              </a:rPr>
              <a:t>Teacher thấy nhiều hơn + output sharp hơn</a:t>
            </a:r>
            <a:endParaRPr lang="en-US" sz="2400" dirty="0"/>
          </a:p>
        </p:txBody>
      </p:sp>
      <p:sp>
        <p:nvSpPr>
          <p:cNvPr id="6" name="Text 3"/>
          <p:cNvSpPr/>
          <p:nvPr/>
        </p:nvSpPr>
        <p:spPr>
          <a:xfrm>
            <a:off x="457200" y="5029200"/>
            <a:ext cx="11274552" cy="457200"/>
          </a:xfrm>
          <a:prstGeom prst="rect">
            <a:avLst/>
          </a:prstGeom>
          <a:noFill/>
          <a:ln/>
        </p:spPr>
        <p:txBody>
          <a:bodyPr wrap="square" rtlCol="0" anchor="ctr"/>
          <a:lstStyle/>
          <a:p>
            <a:pPr marL="0" indent="0" algn="ctr">
              <a:buNone/>
            </a:pPr>
            <a:r>
              <a:rPr lang="en-US" sz="2000" dirty="0">
                <a:solidFill>
                  <a:srgbClr val="212121"/>
                </a:solidFill>
                <a:latin typeface="Roboto" pitchFamily="34" charset="0"/>
                <a:ea typeface="Roboto" pitchFamily="34" charset="-122"/>
                <a:cs typeface="Roboto" pitchFamily="34" charset="-120"/>
              </a:rPr>
              <a:t>→ Student học "tóm tắt" từ cái nhìn toàn cục của Teacher</a:t>
            </a:r>
            <a:endParaRPr lang="en-US" sz="2000" dirty="0"/>
          </a:p>
        </p:txBody>
      </p:sp>
      <p:sp>
        <p:nvSpPr>
          <p:cNvPr id="7" name="Shape 4"/>
          <p:cNvSpPr/>
          <p:nvPr/>
        </p:nvSpPr>
        <p:spPr>
          <a:xfrm>
            <a:off x="457200" y="6537960"/>
            <a:ext cx="2209190" cy="228600"/>
          </a:xfrm>
          <a:prstGeom prst="rect">
            <a:avLst/>
          </a:prstGeom>
          <a:solidFill>
            <a:srgbClr val="BDBDBD"/>
          </a:solidFill>
          <a:ln/>
        </p:spPr>
      </p:sp>
      <p:sp>
        <p:nvSpPr>
          <p:cNvPr id="4" name="Text 5"/>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9" name="Shape 6"/>
          <p:cNvSpPr/>
          <p:nvPr/>
        </p:nvSpPr>
        <p:spPr>
          <a:xfrm>
            <a:off x="2712110" y="6537960"/>
            <a:ext cx="2209190" cy="228600"/>
          </a:xfrm>
          <a:prstGeom prst="rect">
            <a:avLst/>
          </a:prstGeom>
          <a:solidFill>
            <a:srgbClr val="C62828"/>
          </a:solidFill>
          <a:ln/>
        </p:spPr>
      </p:sp>
      <p:sp>
        <p:nvSpPr>
          <p:cNvPr id="10" name="Text 7"/>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11" name="Shape 8"/>
          <p:cNvSpPr/>
          <p:nvPr/>
        </p:nvSpPr>
        <p:spPr>
          <a:xfrm>
            <a:off x="4967021" y="6537960"/>
            <a:ext cx="2209190" cy="228600"/>
          </a:xfrm>
          <a:prstGeom prst="rect">
            <a:avLst/>
          </a:prstGeom>
          <a:solidFill>
            <a:srgbClr val="BDBDBD"/>
          </a:solidFill>
          <a:ln/>
        </p:spPr>
      </p:sp>
      <p:sp>
        <p:nvSpPr>
          <p:cNvPr id="12" name="Text 9"/>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13" name="Shape 10"/>
          <p:cNvSpPr/>
          <p:nvPr/>
        </p:nvSpPr>
        <p:spPr>
          <a:xfrm>
            <a:off x="7221931" y="6537960"/>
            <a:ext cx="2209190" cy="228600"/>
          </a:xfrm>
          <a:prstGeom prst="rect">
            <a:avLst/>
          </a:prstGeom>
          <a:solidFill>
            <a:srgbClr val="BDBDBD"/>
          </a:solidFill>
          <a:ln/>
        </p:spPr>
      </p:sp>
      <p:sp>
        <p:nvSpPr>
          <p:cNvPr id="14" name="Text 11"/>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15" name="Shape 12"/>
          <p:cNvSpPr/>
          <p:nvPr/>
        </p:nvSpPr>
        <p:spPr>
          <a:xfrm>
            <a:off x="9476842" y="6537960"/>
            <a:ext cx="2209190" cy="228600"/>
          </a:xfrm>
          <a:prstGeom prst="rect">
            <a:avLst/>
          </a:prstGeom>
          <a:solidFill>
            <a:srgbClr val="BDBDBD"/>
          </a:solidFill>
          <a:ln/>
        </p:spPr>
      </p:sp>
      <p:sp>
        <p:nvSpPr>
          <p:cNvPr id="16" name="Text 13"/>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Emerging Properties</a:t>
            </a:r>
            <a:endParaRPr lang="en-US" sz="3200" dirty="0"/>
          </a:p>
        </p:txBody>
      </p:sp>
      <p:sp>
        <p:nvSpPr>
          <p:cNvPr id="6" name="Text 4"/>
          <p:cNvSpPr/>
          <p:nvPr/>
        </p:nvSpPr>
        <p:spPr>
          <a:xfrm>
            <a:off x="457200" y="1645920"/>
            <a:ext cx="3474720" cy="2560320"/>
          </a:xfrm>
          <a:prstGeom prst="rect">
            <a:avLst/>
          </a:prstGeom>
          <a:noFill/>
          <a:ln/>
        </p:spPr>
        <p:txBody>
          <a:bodyPr wrap="square" rtlCol="0" anchor="ctr"/>
          <a:lstStyle/>
          <a:p>
            <a:pPr marL="0" indent="0" algn="ctr">
              <a:buNone/>
            </a:pPr>
            <a:r>
              <a:rPr lang="en-US" sz="1400" dirty="0">
                <a:solidFill>
                  <a:srgbClr val="757575"/>
                </a:solidFill>
                <a:latin typeface="Roboto" pitchFamily="34" charset="0"/>
                <a:ea typeface="Roboto" pitchFamily="34" charset="-122"/>
                <a:cs typeface="Roboto" pitchFamily="34" charset="-120"/>
              </a:rPr>
              <a:t>[Ảnh gốc</a:t>
            </a:r>
            <a:endParaRPr lang="en-US" sz="1400" dirty="0"/>
          </a:p>
          <a:p>
            <a:pPr marL="0" indent="0" algn="ctr">
              <a:buNone/>
            </a:pPr>
            <a:r>
              <a:rPr lang="en-US" sz="1400" dirty="0">
                <a:solidFill>
                  <a:srgbClr val="757575"/>
                </a:solidFill>
                <a:latin typeface="Roboto" pitchFamily="34" charset="0"/>
                <a:ea typeface="Roboto" pitchFamily="34" charset="-122"/>
                <a:cs typeface="Roboto" pitchFamily="34" charset="-120"/>
              </a:rPr>
              <a:t>(con khỉ/cá)]</a:t>
            </a:r>
            <a:endParaRPr lang="en-US" sz="1400" dirty="0"/>
          </a:p>
        </p:txBody>
      </p:sp>
      <p:sp>
        <p:nvSpPr>
          <p:cNvPr id="9" name="Text 7"/>
          <p:cNvSpPr/>
          <p:nvPr/>
        </p:nvSpPr>
        <p:spPr>
          <a:xfrm>
            <a:off x="3931920" y="2560320"/>
            <a:ext cx="457200" cy="731520"/>
          </a:xfrm>
          <a:prstGeom prst="rect">
            <a:avLst/>
          </a:prstGeom>
          <a:noFill/>
          <a:ln/>
        </p:spPr>
        <p:txBody>
          <a:bodyPr wrap="square" rtlCol="0" anchor="ctr"/>
          <a:lstStyle/>
          <a:p>
            <a:pPr marL="0" indent="0" algn="ctr">
              <a:buNone/>
            </a:pPr>
            <a:r>
              <a:rPr lang="en-US" sz="3600" b="1" dirty="0">
                <a:solidFill>
                  <a:srgbClr val="1565C0"/>
                </a:solidFill>
                <a:latin typeface="Roboto" pitchFamily="34" charset="0"/>
                <a:ea typeface="Roboto" pitchFamily="34" charset="-122"/>
                <a:cs typeface="Roboto" pitchFamily="34" charset="-120"/>
              </a:rPr>
              <a:t>→</a:t>
            </a:r>
            <a:endParaRPr lang="en-US" sz="3600" dirty="0"/>
          </a:p>
        </p:txBody>
      </p:sp>
      <p:sp>
        <p:nvSpPr>
          <p:cNvPr id="10" name="Shape 8"/>
          <p:cNvSpPr/>
          <p:nvPr/>
        </p:nvSpPr>
        <p:spPr>
          <a:xfrm>
            <a:off x="6629400" y="1645919"/>
            <a:ext cx="5074920" cy="3119953"/>
          </a:xfrm>
          <a:prstGeom prst="rect">
            <a:avLst/>
          </a:prstGeom>
          <a:solidFill>
            <a:srgbClr val="FFF8E1"/>
          </a:solidFill>
          <a:ln/>
        </p:spPr>
      </p:sp>
      <p:sp>
        <p:nvSpPr>
          <p:cNvPr id="11" name="Text 9"/>
          <p:cNvSpPr/>
          <p:nvPr/>
        </p:nvSpPr>
        <p:spPr>
          <a:xfrm>
            <a:off x="6736080" y="1760220"/>
            <a:ext cx="3566160" cy="365760"/>
          </a:xfrm>
          <a:prstGeom prst="rect">
            <a:avLst/>
          </a:prstGeom>
          <a:noFill/>
          <a:ln/>
        </p:spPr>
        <p:txBody>
          <a:bodyPr wrap="square" rtlCol="0" anchor="ctr"/>
          <a:lstStyle/>
          <a:p>
            <a:pPr marL="0" indent="0">
              <a:buNone/>
            </a:pPr>
            <a:r>
              <a:rPr lang="en-US" sz="3200" b="1" dirty="0">
                <a:solidFill>
                  <a:srgbClr val="1565C0"/>
                </a:solidFill>
                <a:latin typeface="Roboto" pitchFamily="34" charset="0"/>
                <a:ea typeface="Roboto" pitchFamily="34" charset="-122"/>
                <a:cs typeface="Roboto" pitchFamily="34" charset="-120"/>
              </a:rPr>
              <a:t>Phát hiện:</a:t>
            </a:r>
            <a:endParaRPr lang="en-US" sz="3200" dirty="0"/>
          </a:p>
        </p:txBody>
      </p:sp>
      <p:sp>
        <p:nvSpPr>
          <p:cNvPr id="12" name="Text 10"/>
          <p:cNvSpPr/>
          <p:nvPr/>
        </p:nvSpPr>
        <p:spPr>
          <a:xfrm>
            <a:off x="6736080" y="2472482"/>
            <a:ext cx="4785360" cy="1828800"/>
          </a:xfrm>
          <a:prstGeom prst="rect">
            <a:avLst/>
          </a:prstGeom>
          <a:noFill/>
          <a:ln/>
        </p:spPr>
        <p:txBody>
          <a:bodyPr wrap="square" rtlCol="0" anchor="ctr"/>
          <a:lstStyle/>
          <a:p>
            <a:pPr marL="0" indent="0">
              <a:buNone/>
            </a:pPr>
            <a:r>
              <a:rPr lang="en-US" sz="2400" dirty="0">
                <a:solidFill>
                  <a:srgbClr val="212121"/>
                </a:solidFill>
                <a:latin typeface="Roboto" pitchFamily="34" charset="0"/>
                <a:ea typeface="Roboto" pitchFamily="34" charset="-122"/>
                <a:cs typeface="Roboto" pitchFamily="34" charset="-120"/>
              </a:rPr>
              <a:t>• Heads tự segment objects</a:t>
            </a:r>
            <a:endParaRPr lang="en-US" sz="2400" dirty="0"/>
          </a:p>
          <a:p>
            <a:pPr marL="0" indent="0">
              <a:buNone/>
            </a:pPr>
            <a:r>
              <a:rPr lang="en-US" sz="2400" dirty="0">
                <a:solidFill>
                  <a:srgbClr val="212121"/>
                </a:solidFill>
                <a:latin typeface="Roboto" pitchFamily="34" charset="0"/>
                <a:ea typeface="Roboto" pitchFamily="34" charset="-122"/>
                <a:cs typeface="Roboto" pitchFamily="34" charset="-120"/>
              </a:rPr>
              <a:t>• Không cần segmentation labels</a:t>
            </a:r>
            <a:endParaRPr lang="en-US" sz="2400" dirty="0"/>
          </a:p>
          <a:p>
            <a:pPr marL="0" indent="0">
              <a:buNone/>
            </a:pPr>
            <a:r>
              <a:rPr lang="en-US" sz="2400" dirty="0">
                <a:solidFill>
                  <a:srgbClr val="212121"/>
                </a:solidFill>
                <a:latin typeface="Roboto" pitchFamily="34" charset="0"/>
                <a:ea typeface="Roboto" pitchFamily="34" charset="-122"/>
                <a:cs typeface="Roboto" pitchFamily="34" charset="-120"/>
              </a:rPr>
              <a:t>• Head khác → part khác</a:t>
            </a:r>
            <a:endParaRPr lang="en-US" sz="2400" dirty="0"/>
          </a:p>
          <a:p>
            <a:pPr marL="0" indent="0">
              <a:buNone/>
            </a:pPr>
            <a:r>
              <a:rPr lang="en-US" sz="2400" dirty="0">
                <a:solidFill>
                  <a:srgbClr val="212121"/>
                </a:solidFill>
                <a:latin typeface="Roboto" pitchFamily="34" charset="0"/>
                <a:ea typeface="Roboto" pitchFamily="34" charset="-122"/>
                <a:cs typeface="Roboto" pitchFamily="34" charset="-120"/>
              </a:rPr>
              <a:t>  (đầu, thân, </a:t>
            </a:r>
            <a:r>
              <a:rPr lang="en-US" sz="2400" dirty="0" err="1">
                <a:solidFill>
                  <a:srgbClr val="212121"/>
                </a:solidFill>
                <a:latin typeface="Roboto" pitchFamily="34" charset="0"/>
                <a:ea typeface="Roboto" pitchFamily="34" charset="-122"/>
                <a:cs typeface="Roboto" pitchFamily="34" charset="-120"/>
              </a:rPr>
              <a:t>nền</a:t>
            </a:r>
            <a:r>
              <a:rPr lang="en-US" sz="2400" dirty="0">
                <a:solidFill>
                  <a:srgbClr val="212121"/>
                </a:solidFill>
                <a:latin typeface="Roboto" pitchFamily="34" charset="0"/>
                <a:ea typeface="Roboto" pitchFamily="34" charset="-122"/>
                <a:cs typeface="Roboto" pitchFamily="34" charset="-120"/>
              </a:rPr>
              <a:t>)</a:t>
            </a:r>
            <a:endParaRPr lang="en-US" sz="2400" dirty="0"/>
          </a:p>
        </p:txBody>
      </p:sp>
      <p:sp>
        <p:nvSpPr>
          <p:cNvPr id="16" name="Text 14"/>
          <p:cNvSpPr/>
          <p:nvPr/>
        </p:nvSpPr>
        <p:spPr>
          <a:xfrm>
            <a:off x="457200" y="5760720"/>
            <a:ext cx="11274552" cy="274320"/>
          </a:xfrm>
          <a:prstGeom prst="rect">
            <a:avLst/>
          </a:prstGeom>
          <a:noFill/>
          <a:ln/>
        </p:spPr>
        <p:txBody>
          <a:bodyPr wrap="square" rtlCol="0" anchor="ctr"/>
          <a:lstStyle/>
          <a:p>
            <a:pPr marL="0" indent="0">
              <a:buNone/>
            </a:pPr>
            <a:r>
              <a:rPr lang="en-US" sz="1100" i="1" dirty="0">
                <a:solidFill>
                  <a:srgbClr val="757575"/>
                </a:solidFill>
                <a:latin typeface="Roboto" pitchFamily="34" charset="0"/>
                <a:ea typeface="Roboto" pitchFamily="34" charset="-122"/>
                <a:cs typeface="Roboto" pitchFamily="34" charset="-120"/>
              </a:rPr>
              <a:t>Source: Caron et al. ICCV 2021, Figure 1</a:t>
            </a:r>
            <a:endParaRPr lang="en-US" sz="1100" dirty="0"/>
          </a:p>
        </p:txBody>
      </p:sp>
      <p:sp>
        <p:nvSpPr>
          <p:cNvPr id="17" name="Shape 15"/>
          <p:cNvSpPr/>
          <p:nvPr/>
        </p:nvSpPr>
        <p:spPr>
          <a:xfrm>
            <a:off x="457200" y="6537960"/>
            <a:ext cx="2209190" cy="228600"/>
          </a:xfrm>
          <a:prstGeom prst="rect">
            <a:avLst/>
          </a:prstGeom>
          <a:solidFill>
            <a:srgbClr val="BDBDBD"/>
          </a:solidFill>
          <a:ln/>
        </p:spPr>
      </p:sp>
      <p:sp>
        <p:nvSpPr>
          <p:cNvPr id="18" name="Text 16"/>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9" name="Shape 17"/>
          <p:cNvSpPr/>
          <p:nvPr/>
        </p:nvSpPr>
        <p:spPr>
          <a:xfrm>
            <a:off x="2712110" y="6537960"/>
            <a:ext cx="2209190" cy="228600"/>
          </a:xfrm>
          <a:prstGeom prst="rect">
            <a:avLst/>
          </a:prstGeom>
          <a:solidFill>
            <a:srgbClr val="C62828"/>
          </a:solidFill>
          <a:ln/>
        </p:spPr>
      </p:sp>
      <p:sp>
        <p:nvSpPr>
          <p:cNvPr id="20" name="Text 18"/>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21" name="Shape 19"/>
          <p:cNvSpPr/>
          <p:nvPr/>
        </p:nvSpPr>
        <p:spPr>
          <a:xfrm>
            <a:off x="4967021" y="6537960"/>
            <a:ext cx="2209190" cy="228600"/>
          </a:xfrm>
          <a:prstGeom prst="rect">
            <a:avLst/>
          </a:prstGeom>
          <a:solidFill>
            <a:srgbClr val="BDBDBD"/>
          </a:solidFill>
          <a:ln/>
        </p:spPr>
      </p:sp>
      <p:sp>
        <p:nvSpPr>
          <p:cNvPr id="22" name="Text 20"/>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23" name="Shape 21"/>
          <p:cNvSpPr/>
          <p:nvPr/>
        </p:nvSpPr>
        <p:spPr>
          <a:xfrm>
            <a:off x="7221931" y="6537960"/>
            <a:ext cx="2209190" cy="228600"/>
          </a:xfrm>
          <a:prstGeom prst="rect">
            <a:avLst/>
          </a:prstGeom>
          <a:solidFill>
            <a:srgbClr val="BDBDBD"/>
          </a:solidFill>
          <a:ln/>
        </p:spPr>
      </p:sp>
      <p:sp>
        <p:nvSpPr>
          <p:cNvPr id="24" name="Text 22"/>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25" name="Shape 23"/>
          <p:cNvSpPr/>
          <p:nvPr/>
        </p:nvSpPr>
        <p:spPr>
          <a:xfrm>
            <a:off x="9476842" y="6537960"/>
            <a:ext cx="2209190" cy="228600"/>
          </a:xfrm>
          <a:prstGeom prst="rect">
            <a:avLst/>
          </a:prstGeom>
          <a:solidFill>
            <a:srgbClr val="BDBDBD"/>
          </a:solidFill>
          <a:ln/>
        </p:spPr>
      </p:sp>
      <p:sp>
        <p:nvSpPr>
          <p:cNvPr id="26" name="Text 24"/>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pic>
        <p:nvPicPr>
          <p:cNvPr id="28" name="Picture 27">
            <a:extLst>
              <a:ext uri="{FF2B5EF4-FFF2-40B4-BE49-F238E27FC236}">
                <a16:creationId xmlns:a16="http://schemas.microsoft.com/office/drawing/2014/main" id="{D0D3D96B-21AC-445E-AC2B-32491CFADEA2}"/>
              </a:ext>
            </a:extLst>
          </p:cNvPr>
          <p:cNvPicPr>
            <a:picLocks noChangeAspect="1"/>
          </p:cNvPicPr>
          <p:nvPr/>
        </p:nvPicPr>
        <p:blipFill>
          <a:blip r:embed="rId3"/>
          <a:stretch>
            <a:fillRect/>
          </a:stretch>
        </p:blipFill>
        <p:spPr>
          <a:xfrm>
            <a:off x="-57732" y="1509032"/>
            <a:ext cx="6610932" cy="33432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88952" cy="822960"/>
          </a:xfrm>
          <a:prstGeom prst="rect">
            <a:avLst/>
          </a:prstGeom>
          <a:solidFill>
            <a:srgbClr val="1565C0"/>
          </a:solidFill>
          <a:ln/>
        </p:spPr>
      </p:sp>
      <p:sp>
        <p:nvSpPr>
          <p:cNvPr id="3" name="Text 1"/>
          <p:cNvSpPr/>
          <p:nvPr/>
        </p:nvSpPr>
        <p:spPr>
          <a:xfrm>
            <a:off x="457200" y="137160"/>
            <a:ext cx="11274552" cy="548640"/>
          </a:xfrm>
          <a:prstGeom prst="rect">
            <a:avLst/>
          </a:prstGeom>
          <a:noFill/>
          <a:ln/>
        </p:spPr>
        <p:txBody>
          <a:bodyPr wrap="square" rtlCol="0" anchor="ctr"/>
          <a:lstStyle/>
          <a:p>
            <a:pPr marL="0" indent="0">
              <a:buNone/>
            </a:pPr>
            <a:r>
              <a:rPr lang="en-US" sz="3200" b="1" dirty="0">
                <a:solidFill>
                  <a:srgbClr val="FFFFFF"/>
                </a:solidFill>
                <a:latin typeface="Roboto" pitchFamily="34" charset="0"/>
                <a:ea typeface="Roboto" pitchFamily="34" charset="-122"/>
                <a:cs typeface="Roboto" pitchFamily="34" charset="-120"/>
              </a:rPr>
              <a:t>Kết Quả v1</a:t>
            </a:r>
            <a:endParaRPr lang="en-US" sz="3200" dirty="0"/>
          </a:p>
        </p:txBody>
      </p:sp>
      <p:sp>
        <p:nvSpPr>
          <p:cNvPr id="4" name="Text 2"/>
          <p:cNvSpPr/>
          <p:nvPr/>
        </p:nvSpPr>
        <p:spPr>
          <a:xfrm>
            <a:off x="457200" y="1188720"/>
            <a:ext cx="3200400" cy="822960"/>
          </a:xfrm>
          <a:prstGeom prst="rect">
            <a:avLst/>
          </a:prstGeom>
          <a:noFill/>
          <a:ln/>
        </p:spPr>
        <p:txBody>
          <a:bodyPr wrap="square" rtlCol="0" anchor="ctr"/>
          <a:lstStyle/>
          <a:p>
            <a:pPr marL="0" indent="0">
              <a:buNone/>
            </a:pPr>
            <a:r>
              <a:rPr lang="en-US" sz="6000" b="1" dirty="0">
                <a:solidFill>
                  <a:srgbClr val="1565C0"/>
                </a:solidFill>
                <a:latin typeface="Roboto" pitchFamily="34" charset="0"/>
                <a:ea typeface="Roboto" pitchFamily="34" charset="-122"/>
                <a:cs typeface="Roboto" pitchFamily="34" charset="-120"/>
              </a:rPr>
              <a:t>80.1%</a:t>
            </a:r>
            <a:endParaRPr lang="en-US" sz="6000" dirty="0"/>
          </a:p>
        </p:txBody>
      </p:sp>
      <p:sp>
        <p:nvSpPr>
          <p:cNvPr id="5" name="Text 3"/>
          <p:cNvSpPr/>
          <p:nvPr/>
        </p:nvSpPr>
        <p:spPr>
          <a:xfrm>
            <a:off x="457200" y="1965960"/>
            <a:ext cx="3200400" cy="365760"/>
          </a:xfrm>
          <a:prstGeom prst="rect">
            <a:avLst/>
          </a:prstGeom>
          <a:noFill/>
          <a:ln/>
        </p:spPr>
        <p:txBody>
          <a:bodyPr wrap="square" rtlCol="0" anchor="ctr"/>
          <a:lstStyle/>
          <a:p>
            <a:pPr marL="0" indent="0">
              <a:buNone/>
            </a:pPr>
            <a:r>
              <a:rPr lang="en-US" sz="1600" dirty="0">
                <a:solidFill>
                  <a:srgbClr val="424242"/>
                </a:solidFill>
                <a:latin typeface="Roboto" pitchFamily="34" charset="0"/>
                <a:ea typeface="Roboto" pitchFamily="34" charset="-122"/>
                <a:cs typeface="Roboto" pitchFamily="34" charset="-120"/>
              </a:rPr>
              <a:t>Linear probe</a:t>
            </a:r>
            <a:endParaRPr lang="en-US" sz="1600" dirty="0"/>
          </a:p>
        </p:txBody>
      </p:sp>
      <p:sp>
        <p:nvSpPr>
          <p:cNvPr id="6" name="Text 4"/>
          <p:cNvSpPr/>
          <p:nvPr/>
        </p:nvSpPr>
        <p:spPr>
          <a:xfrm>
            <a:off x="457200" y="2377440"/>
            <a:ext cx="3200400" cy="640080"/>
          </a:xfrm>
          <a:prstGeom prst="rect">
            <a:avLst/>
          </a:prstGeom>
          <a:noFill/>
          <a:ln/>
        </p:spPr>
        <p:txBody>
          <a:bodyPr wrap="square" rtlCol="0" anchor="ctr"/>
          <a:lstStyle/>
          <a:p>
            <a:pPr marL="0" indent="0">
              <a:buNone/>
            </a:pPr>
            <a:r>
              <a:rPr lang="en-US" sz="4400" b="1" dirty="0">
                <a:solidFill>
                  <a:srgbClr val="1565C0"/>
                </a:solidFill>
                <a:latin typeface="Roboto" pitchFamily="34" charset="0"/>
                <a:ea typeface="Roboto" pitchFamily="34" charset="-122"/>
                <a:cs typeface="Roboto" pitchFamily="34" charset="-120"/>
              </a:rPr>
              <a:t>77.4%</a:t>
            </a:r>
            <a:endParaRPr lang="en-US" sz="4400" dirty="0"/>
          </a:p>
        </p:txBody>
      </p:sp>
      <p:sp>
        <p:nvSpPr>
          <p:cNvPr id="7" name="Text 5"/>
          <p:cNvSpPr/>
          <p:nvPr/>
        </p:nvSpPr>
        <p:spPr>
          <a:xfrm>
            <a:off x="457200" y="2971800"/>
            <a:ext cx="3200400" cy="365760"/>
          </a:xfrm>
          <a:prstGeom prst="rect">
            <a:avLst/>
          </a:prstGeom>
          <a:noFill/>
          <a:ln/>
        </p:spPr>
        <p:txBody>
          <a:bodyPr wrap="square" rtlCol="0" anchor="ctr"/>
          <a:lstStyle/>
          <a:p>
            <a:pPr marL="0" indent="0">
              <a:buNone/>
            </a:pPr>
            <a:r>
              <a:rPr lang="en-US" sz="1600" dirty="0">
                <a:solidFill>
                  <a:srgbClr val="424242"/>
                </a:solidFill>
                <a:latin typeface="Roboto" pitchFamily="34" charset="0"/>
                <a:ea typeface="Roboto" pitchFamily="34" charset="-122"/>
                <a:cs typeface="Roboto" pitchFamily="34" charset="-120"/>
              </a:rPr>
              <a:t>k-NN (không cần train!)</a:t>
            </a:r>
            <a:endParaRPr lang="en-US" sz="1600" dirty="0"/>
          </a:p>
        </p:txBody>
      </p:sp>
      <p:sp>
        <p:nvSpPr>
          <p:cNvPr id="8" name="Text 6"/>
          <p:cNvSpPr/>
          <p:nvPr/>
        </p:nvSpPr>
        <p:spPr>
          <a:xfrm>
            <a:off x="457200" y="3429000"/>
            <a:ext cx="3200400" cy="365760"/>
          </a:xfrm>
          <a:prstGeom prst="rect">
            <a:avLst/>
          </a:prstGeom>
          <a:noFill/>
          <a:ln/>
        </p:spPr>
        <p:txBody>
          <a:bodyPr wrap="square" rtlCol="0" anchor="ctr"/>
          <a:lstStyle/>
          <a:p>
            <a:pPr marL="0" indent="0">
              <a:buNone/>
            </a:pPr>
            <a:r>
              <a:rPr lang="en-US" sz="1400" i="1" dirty="0">
                <a:solidFill>
                  <a:srgbClr val="757575"/>
                </a:solidFill>
                <a:latin typeface="Roboto" pitchFamily="34" charset="0"/>
                <a:ea typeface="Roboto" pitchFamily="34" charset="-122"/>
                <a:cs typeface="Roboto" pitchFamily="34" charset="-120"/>
              </a:rPr>
              <a:t>ViT-B/8 · ImageNet · 0 labels</a:t>
            </a:r>
            <a:endParaRPr lang="en-US" sz="1400" dirty="0"/>
          </a:p>
        </p:txBody>
      </p:sp>
      <p:sp>
        <p:nvSpPr>
          <p:cNvPr id="9" name="Shape 7"/>
          <p:cNvSpPr/>
          <p:nvPr/>
        </p:nvSpPr>
        <p:spPr>
          <a:xfrm>
            <a:off x="3931920" y="1097280"/>
            <a:ext cx="7772400" cy="2651760"/>
          </a:xfrm>
          <a:prstGeom prst="rect">
            <a:avLst/>
          </a:prstGeom>
          <a:solidFill>
            <a:srgbClr val="F5F5F5"/>
          </a:solidFill>
          <a:ln w="12700">
            <a:solidFill>
              <a:srgbClr val="1565C0"/>
            </a:solidFill>
            <a:prstDash val="solid"/>
          </a:ln>
        </p:spPr>
      </p:sp>
      <p:sp>
        <p:nvSpPr>
          <p:cNvPr id="10" name="Text 8"/>
          <p:cNvSpPr/>
          <p:nvPr/>
        </p:nvSpPr>
        <p:spPr>
          <a:xfrm>
            <a:off x="4114800" y="1234440"/>
            <a:ext cx="7406640" cy="365760"/>
          </a:xfrm>
          <a:prstGeom prst="rect">
            <a:avLst/>
          </a:prstGeom>
          <a:noFill/>
          <a:ln/>
        </p:spPr>
        <p:txBody>
          <a:bodyPr wrap="square" rtlCol="0" anchor="ctr"/>
          <a:lstStyle/>
          <a:p>
            <a:pPr marL="0" indent="0">
              <a:buNone/>
            </a:pPr>
            <a:r>
              <a:rPr lang="en-US" sz="1600" b="1" dirty="0">
                <a:solidFill>
                  <a:srgbClr val="1565C0"/>
                </a:solidFill>
                <a:latin typeface="Roboto" pitchFamily="34" charset="0"/>
                <a:ea typeface="Roboto" pitchFamily="34" charset="-122"/>
                <a:cs typeface="Roboto" pitchFamily="34" charset="-120"/>
              </a:rPr>
              <a:t>So sánh với các phương pháp khác (Table 2):</a:t>
            </a:r>
            <a:endParaRPr lang="en-US" sz="1600" dirty="0"/>
          </a:p>
        </p:txBody>
      </p:sp>
      <p:graphicFrame>
        <p:nvGraphicFramePr>
          <p:cNvPr id="11" name="Table 0"/>
          <p:cNvGraphicFramePr>
            <a:graphicFrameLocks noGrp="1"/>
          </p:cNvGraphicFramePr>
          <p:nvPr>
            <p:extLst/>
          </p:nvPr>
        </p:nvGraphicFramePr>
        <p:xfrm>
          <a:off x="4114800" y="1691640"/>
          <a:ext cx="7406640" cy="1524000"/>
        </p:xfrm>
        <a:graphic>
          <a:graphicData uri="http://schemas.openxmlformats.org/drawingml/2006/table">
            <a:tbl>
              <a:tblPr/>
              <a:tblGrid>
                <a:gridCol w="1851660">
                  <a:extLst>
                    <a:ext uri="{9D8B030D-6E8A-4147-A177-3AD203B41FA5}">
                      <a16:colId xmlns:a16="http://schemas.microsoft.com/office/drawing/2014/main" val="20000"/>
                    </a:ext>
                  </a:extLst>
                </a:gridCol>
                <a:gridCol w="1851660">
                  <a:extLst>
                    <a:ext uri="{9D8B030D-6E8A-4147-A177-3AD203B41FA5}">
                      <a16:colId xmlns:a16="http://schemas.microsoft.com/office/drawing/2014/main" val="20001"/>
                    </a:ext>
                  </a:extLst>
                </a:gridCol>
                <a:gridCol w="1851660">
                  <a:extLst>
                    <a:ext uri="{9D8B030D-6E8A-4147-A177-3AD203B41FA5}">
                      <a16:colId xmlns:a16="http://schemas.microsoft.com/office/drawing/2014/main" val="20002"/>
                    </a:ext>
                  </a:extLst>
                </a:gridCol>
                <a:gridCol w="1851660">
                  <a:extLst>
                    <a:ext uri="{9D8B030D-6E8A-4147-A177-3AD203B41FA5}">
                      <a16:colId xmlns:a16="http://schemas.microsoft.com/office/drawing/2014/main" val="20003"/>
                    </a:ext>
                  </a:extLst>
                </a:gridCol>
              </a:tblGrid>
              <a:tr h="0">
                <a:tc>
                  <a:txBody>
                    <a:bodyPr/>
                    <a:lstStyle/>
                    <a:p>
                      <a:pPr marL="0" indent="0">
                        <a:buNone/>
                      </a:pPr>
                      <a:r>
                        <a:rPr lang="en-US" sz="1400" b="1" dirty="0">
                          <a:solidFill>
                            <a:srgbClr val="FFFFFF"/>
                          </a:solidFill>
                          <a:latin typeface="Roboto" pitchFamily="34" charset="0"/>
                          <a:ea typeface="Roboto" pitchFamily="34" charset="-122"/>
                          <a:cs typeface="Roboto" pitchFamily="34" charset="-120"/>
                        </a:rPr>
                        <a:t>Method</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1565C0"/>
                    </a:solidFill>
                  </a:tcPr>
                </a:tc>
                <a:tc>
                  <a:txBody>
                    <a:bodyPr/>
                    <a:lstStyle/>
                    <a:p>
                      <a:pPr marL="0" indent="0">
                        <a:buNone/>
                      </a:pPr>
                      <a:r>
                        <a:rPr lang="en-US" sz="1400" b="1" dirty="0">
                          <a:solidFill>
                            <a:srgbClr val="FFFFFF"/>
                          </a:solidFill>
                          <a:latin typeface="Roboto" pitchFamily="34" charset="0"/>
                          <a:ea typeface="Roboto" pitchFamily="34" charset="-122"/>
                          <a:cs typeface="Roboto" pitchFamily="34" charset="-120"/>
                        </a:rPr>
                        <a:t>Arch</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1565C0"/>
                    </a:solidFill>
                  </a:tcPr>
                </a:tc>
                <a:tc>
                  <a:txBody>
                    <a:bodyPr/>
                    <a:lstStyle/>
                    <a:p>
                      <a:pPr marL="0" indent="0">
                        <a:buNone/>
                      </a:pPr>
                      <a:r>
                        <a:rPr lang="en-US" sz="1400" b="1" dirty="0">
                          <a:solidFill>
                            <a:srgbClr val="FFFFFF"/>
                          </a:solidFill>
                          <a:latin typeface="Roboto" pitchFamily="34" charset="0"/>
                          <a:ea typeface="Roboto" pitchFamily="34" charset="-122"/>
                          <a:cs typeface="Roboto" pitchFamily="34" charset="-120"/>
                        </a:rPr>
                        <a:t>Linear</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1565C0"/>
                    </a:solidFill>
                  </a:tcPr>
                </a:tc>
                <a:tc>
                  <a:txBody>
                    <a:bodyPr/>
                    <a:lstStyle/>
                    <a:p>
                      <a:pPr marL="0" indent="0">
                        <a:buNone/>
                      </a:pPr>
                      <a:r>
                        <a:rPr lang="en-US" sz="1400" b="1" dirty="0">
                          <a:solidFill>
                            <a:srgbClr val="FFFFFF"/>
                          </a:solidFill>
                          <a:latin typeface="Roboto" pitchFamily="34" charset="0"/>
                          <a:ea typeface="Roboto" pitchFamily="34" charset="-122"/>
                          <a:cs typeface="Roboto" pitchFamily="34" charset="-120"/>
                        </a:rPr>
                        <a:t>k-NN</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1565C0"/>
                    </a:solidFill>
                  </a:tcPr>
                </a:tc>
                <a:extLst>
                  <a:ext uri="{0D108BD9-81ED-4DB2-BD59-A6C34878D82A}">
                    <a16:rowId xmlns:a16="http://schemas.microsoft.com/office/drawing/2014/main" val="10000"/>
                  </a:ext>
                </a:extLst>
              </a:tr>
              <a:tr h="0">
                <a:tc>
                  <a:txBody>
                    <a:bodyPr/>
                    <a:lstStyle/>
                    <a:p>
                      <a:pPr marL="0" indent="0">
                        <a:buNone/>
                      </a:pPr>
                      <a:r>
                        <a:rPr lang="en-US" sz="1400" b="1" dirty="0">
                          <a:solidFill>
                            <a:srgbClr val="000000"/>
                          </a:solidFill>
                          <a:latin typeface="Roboto" pitchFamily="34" charset="0"/>
                          <a:ea typeface="Roboto" pitchFamily="34" charset="-122"/>
                          <a:cs typeface="Roboto" pitchFamily="34" charset="-120"/>
                        </a:rPr>
                        <a:t>DINO</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E8F5E9"/>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ViT-B/8</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E8F5E9"/>
                    </a:solidFill>
                  </a:tcPr>
                </a:tc>
                <a:tc>
                  <a:txBody>
                    <a:bodyPr/>
                    <a:lstStyle/>
                    <a:p>
                      <a:pPr marL="0" indent="0">
                        <a:buNone/>
                      </a:pPr>
                      <a:r>
                        <a:rPr lang="en-US" sz="1400" b="1" dirty="0">
                          <a:solidFill>
                            <a:srgbClr val="388E3C"/>
                          </a:solidFill>
                          <a:latin typeface="Roboto" pitchFamily="34" charset="0"/>
                          <a:ea typeface="Roboto" pitchFamily="34" charset="-122"/>
                          <a:cs typeface="Roboto" pitchFamily="34" charset="-120"/>
                        </a:rPr>
                        <a:t>80.1%</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E8F5E9"/>
                    </a:solidFill>
                  </a:tcPr>
                </a:tc>
                <a:tc>
                  <a:txBody>
                    <a:bodyPr/>
                    <a:lstStyle/>
                    <a:p>
                      <a:pPr marL="0" indent="0">
                        <a:buNone/>
                      </a:pPr>
                      <a:r>
                        <a:rPr lang="en-US" sz="1400" b="1" dirty="0">
                          <a:solidFill>
                            <a:srgbClr val="388E3C"/>
                          </a:solidFill>
                          <a:latin typeface="Roboto" pitchFamily="34" charset="0"/>
                          <a:ea typeface="Roboto" pitchFamily="34" charset="-122"/>
                          <a:cs typeface="Roboto" pitchFamily="34" charset="-120"/>
                        </a:rPr>
                        <a:t>77.4%</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E8F5E9"/>
                    </a:solidFill>
                  </a:tcPr>
                </a:tc>
                <a:extLst>
                  <a:ext uri="{0D108BD9-81ED-4DB2-BD59-A6C34878D82A}">
                    <a16:rowId xmlns:a16="http://schemas.microsoft.com/office/drawing/2014/main" val="10001"/>
                  </a:ext>
                </a:extLst>
              </a:tr>
              <a:tr h="0">
                <a:tc>
                  <a:txBody>
                    <a:bodyPr/>
                    <a:lstStyle/>
                    <a:p>
                      <a:pPr marL="0" indent="0">
                        <a:buNone/>
                      </a:pPr>
                      <a:r>
                        <a:rPr lang="en-US" sz="1400" dirty="0">
                          <a:solidFill>
                            <a:srgbClr val="000000"/>
                          </a:solidFill>
                          <a:latin typeface="Roboto" pitchFamily="34" charset="0"/>
                          <a:ea typeface="Roboto" pitchFamily="34" charset="-122"/>
                          <a:cs typeface="Roboto" pitchFamily="34" charset="-120"/>
                        </a:rPr>
                        <a:t>Supervised</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RN50</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79.3%</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79.3%</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400" dirty="0">
                          <a:solidFill>
                            <a:srgbClr val="000000"/>
                          </a:solidFill>
                          <a:latin typeface="Roboto" pitchFamily="34" charset="0"/>
                          <a:ea typeface="Roboto" pitchFamily="34" charset="-122"/>
                          <a:cs typeface="Roboto" pitchFamily="34" charset="-120"/>
                        </a:rPr>
                        <a:t>SwAV</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RN50</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75.3%</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65.7%</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5F5F5"/>
                    </a:solidFill>
                  </a:tcPr>
                </a:tc>
                <a:extLst>
                  <a:ext uri="{0D108BD9-81ED-4DB2-BD59-A6C34878D82A}">
                    <a16:rowId xmlns:a16="http://schemas.microsoft.com/office/drawing/2014/main" val="10003"/>
                  </a:ext>
                </a:extLst>
              </a:tr>
              <a:tr h="0">
                <a:tc>
                  <a:txBody>
                    <a:bodyPr/>
                    <a:lstStyle/>
                    <a:p>
                      <a:pPr marL="0" indent="0">
                        <a:buNone/>
                      </a:pPr>
                      <a:r>
                        <a:rPr lang="en-US" sz="1400" dirty="0">
                          <a:solidFill>
                            <a:srgbClr val="000000"/>
                          </a:solidFill>
                          <a:latin typeface="Roboto" pitchFamily="34" charset="0"/>
                          <a:ea typeface="Roboto" pitchFamily="34" charset="-122"/>
                          <a:cs typeface="Roboto" pitchFamily="34" charset="-120"/>
                        </a:rPr>
                        <a:t>BYOL</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RN50</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74.4%</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Roboto" pitchFamily="34" charset="0"/>
                          <a:ea typeface="Roboto" pitchFamily="34" charset="-122"/>
                          <a:cs typeface="Roboto" pitchFamily="34" charset="-120"/>
                        </a:rPr>
                        <a:t>64.8%</a:t>
                      </a:r>
                      <a:endParaRPr lang="en-US" sz="1400" dirty="0">
                        <a:latin typeface="Roboto" charset="0"/>
                        <a:ea typeface="Roboto" charset="0"/>
                        <a:cs typeface="Roboto" charset="0"/>
                      </a:endParaRPr>
                    </a:p>
                  </a:txBody>
                  <a:tcPr>
                    <a:lnL w="6350" cap="flat" cmpd="sng" algn="ctr">
                      <a:solidFill>
                        <a:srgbClr val="BDBDBD"/>
                      </a:solidFill>
                      <a:prstDash val="solid"/>
                      <a:round/>
                      <a:headEnd type="none" w="med" len="med"/>
                      <a:tailEnd type="none" w="med" len="med"/>
                    </a:lnL>
                    <a:lnR w="6350" cap="flat" cmpd="sng" algn="ctr">
                      <a:solidFill>
                        <a:srgbClr val="BDBDBD"/>
                      </a:solidFill>
                      <a:prstDash val="solid"/>
                      <a:round/>
                      <a:headEnd type="none" w="med" len="med"/>
                      <a:tailEnd type="none" w="med" len="med"/>
                    </a:lnR>
                    <a:lnT w="6350" cap="flat" cmpd="sng" algn="ctr">
                      <a:solidFill>
                        <a:srgbClr val="BDBDBD"/>
                      </a:solidFill>
                      <a:prstDash val="solid"/>
                      <a:round/>
                      <a:headEnd type="none" w="med" len="med"/>
                      <a:tailEnd type="none" w="med" len="med"/>
                    </a:lnT>
                    <a:lnB w="6350" cap="flat" cmpd="sng" algn="ctr">
                      <a:solidFill>
                        <a:srgbClr val="BDBDBD"/>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2" name="Shape 9"/>
          <p:cNvSpPr/>
          <p:nvPr/>
        </p:nvSpPr>
        <p:spPr>
          <a:xfrm>
            <a:off x="457200" y="4023360"/>
            <a:ext cx="11274552" cy="1005840"/>
          </a:xfrm>
          <a:prstGeom prst="rect">
            <a:avLst/>
          </a:prstGeom>
          <a:solidFill>
            <a:srgbClr val="E3F2FD"/>
          </a:solidFill>
          <a:ln w="12700">
            <a:solidFill>
              <a:srgbClr val="1565C0"/>
            </a:solidFill>
            <a:prstDash val="solid"/>
          </a:ln>
        </p:spPr>
      </p:sp>
      <p:sp>
        <p:nvSpPr>
          <p:cNvPr id="13" name="Text 10"/>
          <p:cNvSpPr/>
          <p:nvPr/>
        </p:nvSpPr>
        <p:spPr>
          <a:xfrm>
            <a:off x="731520" y="4206240"/>
            <a:ext cx="10725912" cy="640080"/>
          </a:xfrm>
          <a:prstGeom prst="rect">
            <a:avLst/>
          </a:prstGeom>
          <a:noFill/>
          <a:ln/>
        </p:spPr>
        <p:txBody>
          <a:bodyPr wrap="square" rtlCol="0" anchor="ctr"/>
          <a:lstStyle/>
          <a:p>
            <a:pPr marL="0" indent="0" algn="ctr">
              <a:buNone/>
            </a:pPr>
            <a:r>
              <a:rPr lang="en-US" sz="1800" b="1" dirty="0">
                <a:solidFill>
                  <a:srgbClr val="1565C0"/>
                </a:solidFill>
                <a:latin typeface="Roboto" pitchFamily="34" charset="0"/>
                <a:ea typeface="Roboto" pitchFamily="34" charset="-122"/>
                <a:cs typeface="Roboto" pitchFamily="34" charset="-120"/>
              </a:rPr>
              <a:t>Key insight: k-NN gần bằng Linear → features tự nhiên tốt, không cần train classifier!</a:t>
            </a:r>
            <a:endParaRPr lang="en-US" sz="1800" dirty="0"/>
          </a:p>
        </p:txBody>
      </p:sp>
      <p:sp>
        <p:nvSpPr>
          <p:cNvPr id="14" name="Text 11"/>
          <p:cNvSpPr/>
          <p:nvPr/>
        </p:nvSpPr>
        <p:spPr>
          <a:xfrm>
            <a:off x="457200" y="5212080"/>
            <a:ext cx="11274552" cy="457200"/>
          </a:xfrm>
          <a:prstGeom prst="rect">
            <a:avLst/>
          </a:prstGeom>
          <a:noFill/>
          <a:ln/>
        </p:spPr>
        <p:txBody>
          <a:bodyPr wrap="square" rtlCol="0" anchor="ctr"/>
          <a:lstStyle/>
          <a:p>
            <a:pPr marL="0" indent="0" algn="ctr">
              <a:buNone/>
            </a:pPr>
            <a:r>
              <a:rPr lang="en-US" sz="1600" i="1" dirty="0">
                <a:solidFill>
                  <a:srgbClr val="424242"/>
                </a:solidFill>
                <a:latin typeface="Roboto" pitchFamily="34" charset="0"/>
                <a:ea typeface="Roboto" pitchFamily="34" charset="-122"/>
                <a:cs typeface="Roboto" pitchFamily="34" charset="-120"/>
              </a:rPr>
              <a:t>Hạn chế: chỉ ImageNet (1.28M), chỉ classification, 1 loss → v2 giải quyết</a:t>
            </a:r>
            <a:endParaRPr lang="en-US" sz="1600" dirty="0"/>
          </a:p>
        </p:txBody>
      </p:sp>
      <p:sp>
        <p:nvSpPr>
          <p:cNvPr id="15" name="Text 12"/>
          <p:cNvSpPr/>
          <p:nvPr/>
        </p:nvSpPr>
        <p:spPr>
          <a:xfrm>
            <a:off x="457200" y="5760720"/>
            <a:ext cx="11274552" cy="274320"/>
          </a:xfrm>
          <a:prstGeom prst="rect">
            <a:avLst/>
          </a:prstGeom>
          <a:noFill/>
          <a:ln/>
        </p:spPr>
        <p:txBody>
          <a:bodyPr wrap="square" rtlCol="0" anchor="ctr"/>
          <a:lstStyle/>
          <a:p>
            <a:pPr marL="0" indent="0">
              <a:buNone/>
            </a:pPr>
            <a:r>
              <a:rPr lang="en-US" sz="1100" i="1" dirty="0">
                <a:solidFill>
                  <a:srgbClr val="757575"/>
                </a:solidFill>
                <a:latin typeface="Roboto" pitchFamily="34" charset="0"/>
                <a:ea typeface="Roboto" pitchFamily="34" charset="-122"/>
                <a:cs typeface="Roboto" pitchFamily="34" charset="-120"/>
              </a:rPr>
              <a:t>Source: Caron et al. ICCV 2021, Table 2</a:t>
            </a:r>
            <a:endParaRPr lang="en-US" sz="1100" dirty="0"/>
          </a:p>
        </p:txBody>
      </p:sp>
      <p:sp>
        <p:nvSpPr>
          <p:cNvPr id="16" name="Shape 13"/>
          <p:cNvSpPr/>
          <p:nvPr/>
        </p:nvSpPr>
        <p:spPr>
          <a:xfrm>
            <a:off x="457200" y="6537960"/>
            <a:ext cx="2209190" cy="228600"/>
          </a:xfrm>
          <a:prstGeom prst="rect">
            <a:avLst/>
          </a:prstGeom>
          <a:solidFill>
            <a:srgbClr val="BDBDBD"/>
          </a:solidFill>
          <a:ln/>
        </p:spPr>
      </p:sp>
      <p:sp>
        <p:nvSpPr>
          <p:cNvPr id="17" name="Text 14"/>
          <p:cNvSpPr/>
          <p:nvPr/>
        </p:nvSpPr>
        <p:spPr>
          <a:xfrm>
            <a:off x="457200"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Hook</a:t>
            </a:r>
            <a:endParaRPr lang="en-US" sz="1000" dirty="0"/>
          </a:p>
        </p:txBody>
      </p:sp>
      <p:sp>
        <p:nvSpPr>
          <p:cNvPr id="18" name="Shape 15"/>
          <p:cNvSpPr/>
          <p:nvPr/>
        </p:nvSpPr>
        <p:spPr>
          <a:xfrm>
            <a:off x="2712110" y="6537960"/>
            <a:ext cx="2209190" cy="228600"/>
          </a:xfrm>
          <a:prstGeom prst="rect">
            <a:avLst/>
          </a:prstGeom>
          <a:solidFill>
            <a:srgbClr val="C62828"/>
          </a:solidFill>
          <a:ln/>
        </p:spPr>
      </p:sp>
      <p:sp>
        <p:nvSpPr>
          <p:cNvPr id="19" name="Text 16"/>
          <p:cNvSpPr/>
          <p:nvPr/>
        </p:nvSpPr>
        <p:spPr>
          <a:xfrm>
            <a:off x="2712110" y="6537960"/>
            <a:ext cx="2209190" cy="228600"/>
          </a:xfrm>
          <a:prstGeom prst="rect">
            <a:avLst/>
          </a:prstGeom>
          <a:noFill/>
          <a:ln/>
        </p:spPr>
        <p:txBody>
          <a:bodyPr wrap="square" rtlCol="0" anchor="ctr"/>
          <a:lstStyle/>
          <a:p>
            <a:pPr marL="0" indent="0" algn="ctr">
              <a:buNone/>
            </a:pPr>
            <a:r>
              <a:rPr lang="en-US" sz="1000" dirty="0">
                <a:solidFill>
                  <a:srgbClr val="FFFFFF"/>
                </a:solidFill>
                <a:latin typeface="Roboto" pitchFamily="34" charset="0"/>
                <a:ea typeface="Roboto" pitchFamily="34" charset="-122"/>
                <a:cs typeface="Roboto" pitchFamily="34" charset="-120"/>
              </a:rPr>
              <a:t>DINOv1</a:t>
            </a:r>
            <a:endParaRPr lang="en-US" sz="1000" dirty="0"/>
          </a:p>
        </p:txBody>
      </p:sp>
      <p:sp>
        <p:nvSpPr>
          <p:cNvPr id="20" name="Shape 17"/>
          <p:cNvSpPr/>
          <p:nvPr/>
        </p:nvSpPr>
        <p:spPr>
          <a:xfrm>
            <a:off x="4967021" y="6537960"/>
            <a:ext cx="2209190" cy="228600"/>
          </a:xfrm>
          <a:prstGeom prst="rect">
            <a:avLst/>
          </a:prstGeom>
          <a:solidFill>
            <a:srgbClr val="BDBDBD"/>
          </a:solidFill>
          <a:ln/>
        </p:spPr>
      </p:sp>
      <p:sp>
        <p:nvSpPr>
          <p:cNvPr id="21" name="Text 18"/>
          <p:cNvSpPr/>
          <p:nvPr/>
        </p:nvSpPr>
        <p:spPr>
          <a:xfrm>
            <a:off x="496702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DINOv2</a:t>
            </a:r>
            <a:endParaRPr lang="en-US" sz="1000" dirty="0"/>
          </a:p>
        </p:txBody>
      </p:sp>
      <p:sp>
        <p:nvSpPr>
          <p:cNvPr id="22" name="Shape 19"/>
          <p:cNvSpPr/>
          <p:nvPr/>
        </p:nvSpPr>
        <p:spPr>
          <a:xfrm>
            <a:off x="7221931" y="6537960"/>
            <a:ext cx="2209190" cy="228600"/>
          </a:xfrm>
          <a:prstGeom prst="rect">
            <a:avLst/>
          </a:prstGeom>
          <a:solidFill>
            <a:srgbClr val="BDBDBD"/>
          </a:solidFill>
          <a:ln/>
        </p:spPr>
      </p:sp>
      <p:sp>
        <p:nvSpPr>
          <p:cNvPr id="23" name="Text 20"/>
          <p:cNvSpPr/>
          <p:nvPr/>
        </p:nvSpPr>
        <p:spPr>
          <a:xfrm>
            <a:off x="7221931"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DINOv3</a:t>
            </a:r>
            <a:endParaRPr lang="en-US" sz="1000" dirty="0"/>
          </a:p>
        </p:txBody>
      </p:sp>
      <p:sp>
        <p:nvSpPr>
          <p:cNvPr id="24" name="Shape 21"/>
          <p:cNvSpPr/>
          <p:nvPr/>
        </p:nvSpPr>
        <p:spPr>
          <a:xfrm>
            <a:off x="9476842" y="6537960"/>
            <a:ext cx="2209190" cy="228600"/>
          </a:xfrm>
          <a:prstGeom prst="rect">
            <a:avLst/>
          </a:prstGeom>
          <a:solidFill>
            <a:srgbClr val="BDBDBD"/>
          </a:solidFill>
          <a:ln/>
        </p:spPr>
      </p:sp>
      <p:sp>
        <p:nvSpPr>
          <p:cNvPr id="25" name="Text 22"/>
          <p:cNvSpPr/>
          <p:nvPr/>
        </p:nvSpPr>
        <p:spPr>
          <a:xfrm>
            <a:off x="9476842" y="6537960"/>
            <a:ext cx="2209190" cy="228600"/>
          </a:xfrm>
          <a:prstGeom prst="rect">
            <a:avLst/>
          </a:prstGeom>
          <a:noFill/>
          <a:ln/>
        </p:spPr>
        <p:txBody>
          <a:bodyPr wrap="square" rtlCol="0" anchor="ctr"/>
          <a:lstStyle/>
          <a:p>
            <a:pPr marL="0" indent="0" algn="ctr">
              <a:buNone/>
            </a:pPr>
            <a:r>
              <a:rPr lang="en-US" sz="1000" dirty="0">
                <a:solidFill>
                  <a:srgbClr val="424242"/>
                </a:solidFill>
                <a:latin typeface="Roboto" pitchFamily="34" charset="0"/>
                <a:ea typeface="Roboto" pitchFamily="34" charset="-122"/>
                <a:cs typeface="Roboto" pitchFamily="34" charset="-120"/>
              </a:rPr>
              <a:t>Tổng hợp</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438</TotalTime>
  <Words>5535</Words>
  <Application>Microsoft Office PowerPoint</Application>
  <PresentationFormat>Widescreen</PresentationFormat>
  <Paragraphs>419</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Consolas</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DINO: Self-Supervised Vision Learning</dc:title>
  <dc:subject>PptxGenJS Presentation</dc:subject>
  <dc:creator>DINO Seminar</dc:creator>
  <cp:lastModifiedBy>Nhựt. Nguyễn Minh (3)</cp:lastModifiedBy>
  <cp:revision>110</cp:revision>
  <dcterms:created xsi:type="dcterms:W3CDTF">2026-02-21T08:24:47Z</dcterms:created>
  <dcterms:modified xsi:type="dcterms:W3CDTF">2026-02-21T15:44:53Z</dcterms:modified>
</cp:coreProperties>
</file>